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8" r:id="rId2"/>
    <p:sldId id="259" r:id="rId3"/>
    <p:sldId id="260" r:id="rId4"/>
    <p:sldId id="292" r:id="rId5"/>
    <p:sldId id="293" r:id="rId6"/>
    <p:sldId id="303" r:id="rId7"/>
    <p:sldId id="311" r:id="rId8"/>
    <p:sldId id="312" r:id="rId9"/>
    <p:sldId id="313" r:id="rId10"/>
    <p:sldId id="304" r:id="rId11"/>
    <p:sldId id="317" r:id="rId12"/>
    <p:sldId id="305" r:id="rId13"/>
    <p:sldId id="321" r:id="rId14"/>
    <p:sldId id="306" r:id="rId15"/>
    <p:sldId id="320" r:id="rId16"/>
    <p:sldId id="307" r:id="rId17"/>
    <p:sldId id="318" r:id="rId18"/>
    <p:sldId id="308" r:id="rId19"/>
    <p:sldId id="319" r:id="rId20"/>
    <p:sldId id="309" r:id="rId21"/>
    <p:sldId id="314" r:id="rId22"/>
    <p:sldId id="315" r:id="rId23"/>
    <p:sldId id="316" r:id="rId24"/>
    <p:sldId id="301" r:id="rId25"/>
    <p:sldId id="302" r:id="rId26"/>
    <p:sldId id="310" r:id="rId27"/>
    <p:sldId id="300" r:id="rId28"/>
    <p:sldId id="29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8E8C6C-14EC-43B4-807C-AD89091D7CEA}">
          <p14:sldIdLst>
            <p14:sldId id="258"/>
            <p14:sldId id="259"/>
            <p14:sldId id="260"/>
            <p14:sldId id="292"/>
            <p14:sldId id="293"/>
            <p14:sldId id="303"/>
            <p14:sldId id="311"/>
            <p14:sldId id="312"/>
            <p14:sldId id="313"/>
            <p14:sldId id="304"/>
            <p14:sldId id="317"/>
            <p14:sldId id="305"/>
            <p14:sldId id="321"/>
            <p14:sldId id="306"/>
            <p14:sldId id="320"/>
            <p14:sldId id="307"/>
            <p14:sldId id="318"/>
            <p14:sldId id="308"/>
            <p14:sldId id="319"/>
            <p14:sldId id="309"/>
            <p14:sldId id="314"/>
            <p14:sldId id="315"/>
            <p14:sldId id="316"/>
            <p14:sldId id="301"/>
            <p14:sldId id="302"/>
            <p14:sldId id="310"/>
            <p14:sldId id="300"/>
            <p14:sldId id="298"/>
          </p14:sldIdLst>
        </p14:section>
        <p14:section name="Untitled Section" id="{6BC13044-A195-4AB0-B9B9-D682810EBE5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D99638-46A0-906E-ADF1-DD1D7C751E7B}" name="G K" initials="GK" userId="85969cc81824685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6C06BB-3682-4780-8102-C122ADCA78E8}" v="8" dt="2025-10-31T02:21:04.8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2097" autoAdjust="0"/>
  </p:normalViewPr>
  <p:slideViewPr>
    <p:cSldViewPr snapToGrid="0">
      <p:cViewPr varScale="1">
        <p:scale>
          <a:sx n="88" d="100"/>
          <a:sy n="88" d="100"/>
        </p:scale>
        <p:origin x="47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5:21:28.752"/>
    </inkml:context>
    <inkml:brush xml:id="br0">
      <inkml:brushProperty name="width" value="0.35" units="cm"/>
      <inkml:brushProperty name="height" value="0.35" units="cm"/>
      <inkml:brushProperty name="color" value="#FFFFFF"/>
    </inkml:brush>
  </inkml:definitions>
  <inkml:trace contextRef="#ctx0" brushRef="#br0">2191 1929 24575,'-232'5'0,"-19"5"-164,-337 23-1510,-368 16 493,923-48 1327,13 1-29,0-2 0,0 0 0,-28-5 0,30-1-149,13-4 157,6 8-61,0 0-1,0 0 0,0 0 0,0 0 0,1 1 0,-1-1 0,1 0 0,-1 1 0,1-1 0,-1 1 0,1-1 0,0 1 0,2-2 0,113-74 1218,-94 63-1213,230-130-515,428-178 0,296-44-568,-397 169 874,-566 193 261,-6 1 743,-38 12-748,1 2 1,0 1-1,0 1 0,-47 30 0,-102 84 290,-9 4-239,153-110-166,11-6 0,0-1 0,-1-1 0,0-2 0,-32 11 0,56-21 0,-1-1 0,0 1 0,1-1 0,-1 0 0,1 0 0,-1 1 0,0-1 0,0 0 0,1 0 0,-1 0 0,0 0 0,1 0 0,-1 0 0,0 0 0,1 0 0,-1 0 0,0 0 0,0 0 0,1 0 0,-1 0 0,0-1 0,1 1 0,-1 0 0,0-1 0,1 1 0,-1 0 0,1-1 0,-1 1 0,1-1 0,-1 1 0,0-1 0,1 1 0,0-1 0,-1 1 0,1-1 0,-1 1 0,1-1 0,0 0 0,-1 1 0,1-1 0,0 1 0,0-1 0,-1-1 0,1-1 0,0 0 0,0 0 0,1 1 0,-1-1 0,1 0 0,0 0 0,0 0 0,0 0 0,0 1 0,2-5 0,18-31 0,3 1 0,1 1 0,41-45 0,-33 41 0,312-400 0,-334 426 0,-5 8 0,-1-1 0,1-1 0,-1 1 0,0-1 0,-1 0 0,0 0 0,0 0 0,4-16 0,-7 23 0,-1 1 0,0-1 0,0 0 0,0 0 0,1 0 0,-1 0 0,0 0 0,0 0 0,-1 0 0,1 0 0,0 0 0,0 0 0,0 0 0,-1 0 0,1 0 0,0 0 0,-1 1 0,1-1 0,-1 0 0,1 0 0,-1 0 0,1 0 0,-1 1 0,1-1 0,-1 0 0,0 1 0,0-1 0,1 0 0,-1 1 0,0-1 0,0 1 0,0-1 0,1 1 0,-1 0 0,0-1 0,0 1 0,0 0 0,0 0 0,0-1 0,0 1 0,0 0 0,-1 0 0,-6 0 0,1 0 0,0 0 0,-1 1 0,-10 2 0,14-2 0,-83 19 0,1 4 0,-143 62 0,26-9 0,162-63 0,10-3 0,-56 13 0,85-24 0,1 1 0,-1-1 0,0 0 0,0 1 0,0-1 0,0 0 0,0-1 0,0 1 0,0 0 0,0 0 0,0-1 0,0 1 0,0-1 0,-3-1 0,4 1 0,0 1 0,0-1 0,1 0 0,-1 0 0,0 1 0,0-1 0,1 0 0,-1 0 0,1 0 0,-1 0 0,1 0 0,-1 0 0,1 0 0,-1 0 0,1 0 0,0 0 0,-1 0 0,1 0 0,0-2 0,0-3 0,1 0 0,-1 0 0,1 1 0,0-1 0,1 0 0,-1 1 0,1-1 0,5-8 0,128-241 0,-81 161 0,43-101 0,-94 187 0,0 1 0,-1 0 0,0-1 0,0 1 0,2-16 0,-4 22 0,0 0 0,0-1 0,0 1 0,-1 0 0,1 0 0,0 0 0,0-1 0,0 1 0,-1 0 0,1 0 0,-1 0 0,1 0 0,-1 0 0,1 0 0,-1 0 0,0 0 0,1 0 0,-3-2 0,2 3 0,0-1 0,-1 0 0,1 1 0,-1-1 0,1 1 0,-1 0 0,1-1 0,-1 1 0,1 0 0,-1 0 0,1 0 0,-1 0 0,1 0 0,-1 0 0,1 0 0,-1 1 0,1-1 0,0 0 0,-3 2 0,-12 4 0,0 1 0,0 1 0,1 1 0,0 0 0,0 1 0,-25 23 0,11-10 0,-69 56 0,-84 61 0,179-138 0,-1 1 0,0-1 0,1 0 0,-1 0 0,0 0 0,0-1 0,0 0 0,0 1 0,-8 0 0,11-2 0,1 0 0,-1 0 0,1 0 0,-1 0 0,0 0 0,1 0 0,-1 0 0,1 0 0,-1-1 0,0 1 0,1 0 0,-1 0 0,1-1 0,-1 1 0,1 0 0,-1-1 0,1 1 0,-1 0 0,1-1 0,0 1 0,-1-1 0,1 1 0,-1-1 0,1 1 0,0-1 0,-1 0 0,1 0 0,-1-1 0,1 0 0,0 0 0,-1 0 0,1 0 0,0 1 0,0-1 0,1 0 0,-1 0 0,0 0 0,0 0 0,2-3 0,3-10 0,1 1 0,0-1 0,1 1 0,1 0 0,0 1 0,0 0 0,2 0 0,16-18 0,-24 30 0,-1 0 0,0 0 0,0-1 0,1 1 0,-1 0 0,1 0 0,-1 0 0,1 1 0,-1-1 0,1 0 0,-1 0 0,3 0 0,-3 1 0,-1 0 0,1 0 0,-1 0 0,0 0 0,1 0 0,-1 0 0,1 1 0,-1-1 0,0 0 0,1 0 0,-1 0 0,0 0 0,1 1 0,-1-1 0,0 0 0,1 0 0,-1 1 0,0-1 0,0 0 0,1 0 0,-1 1 0,0-1 0,0 0 0,1 1 0,-1-1 0,0 0 0,0 1 0,0-1 0,0 1 0,1-1 0,-1 0 0,0 1 0,0 4 0,1-1 0,-1 0 0,0 1 0,-1-1 0,1 0 0,-1 1 0,1-1 0,-4 7 0,-16 47 0,-4-2 0,-2-1 0,-35 57 0,13-25 0,14-23 0,-126 255 0,133-257 0,3 2 0,2 1 0,-16 84 0,31-95-1365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5:21:36.108"/>
    </inkml:context>
    <inkml:brush xml:id="br0">
      <inkml:brushProperty name="width" value="0.35" units="cm"/>
      <inkml:brushProperty name="height" value="0.35" units="cm"/>
      <inkml:brushProperty name="color" value="#FFFFFF"/>
    </inkml:brush>
  </inkml:definitions>
  <inkml:trace contextRef="#ctx0" brushRef="#br0">2033 1191 24575,'0'-441'0,"1"438"0,-1 0 0,0 0 0,0 0 0,0 0 0,-1 0 0,1 0 0,-1 0 0,0 0 0,0 1 0,0-1 0,0 0 0,0 0 0,0 1 0,-1-1 0,0 0 0,-3-3 0,2 3 0,0 1 0,-1 0 0,1 0 0,-1 0 0,0 0 0,0 1 0,1-1 0,-1 1 0,0 0 0,0 0 0,0 1 0,-5-1 0,-35-8 0,1-2 0,-46-17 0,80 25 0,1 0 0,1 0 0,0 0 0,0 0 0,0-1 0,0 0 0,0-1 0,1 1 0,0-1 0,0-1 0,0 1 0,0-1 0,1 0 0,-7-11 0,7 9 0,0-1 0,1 0 0,0 0 0,0-1 0,1 1 0,1-1 0,-1 1 0,2-1 0,-1 0 0,1-16 0,0 20 0,2 0 0,-1 0 0,1 0 0,0 0 0,0 0 0,0 1 0,1-1 0,0 0 0,0 1 0,1-1 0,-1 1 0,1-1 0,6-7 0,-3 5 0,1 1 0,0 0 0,0 1 0,0-1 0,1 1 0,0 1 0,15-9 0,8 0 0,0 1 0,1 1 0,58-12 0,-84 23 0,73-16 0,0 3 0,93-3 0,163 16 0,-596 12 0,-38 23 0,78-8 0,182-25 0,30-1 0,0 0 0,0 1 0,0 0 0,0 0 0,-14 4 0,23-5 0,0 1 0,0-1 0,-1 0 0,1 0 0,0 0 0,0 0 0,0 0 0,0 0 0,-1 0 0,1 0 0,0 0 0,0 0 0,0 0 0,0 0 0,0 0 0,-1 1 0,1-1 0,0 0 0,0 0 0,0 0 0,0 0 0,0 0 0,0 0 0,0 1 0,0-1 0,0 0 0,-1 0 0,1 0 0,0 0 0,0 1 0,0-1 0,0 0 0,0 0 0,0 0 0,0 0 0,0 1 0,0-1 0,0 0 0,0 0 0,0 0 0,0 0 0,0 1 0,1-1 0,-1 0 0,0 0 0,0 0 0,0 0 0,0 0 0,0 1 0,0-1 0,0 0 0,0 0 0,0 0 0,1 0 0,-1 0 0,0 0 0,0 1 0,0-1 0,0 0 0,0 0 0,1 0 0,-1 0 0,0 0 0,0 0 0,0 0 0,1 0 0,14 7 0,221 71 0,-66-23 0,725 269-683,-840-302 683,154 68 0,-207-89 10,0 0 0,0 0-1,-1 0 1,1 0 0,0 1 0,0-1-1,-1 0 1,1 1 0,-1-1-1,2 4 1,-2-5-2,-1 0 0,0 1-1,0-1 1,0 1 0,1-1 0,-1 1 0,0-1 0,0 1-1,0-1 1,0 0 0,0 1 0,0-1 0,0 1 0,0-1-1,0 1 1,0-1 0,-1 1 0,1-1 0,0 0 0,0 1-1,0-1 1,0 1 0,-1-1 0,1 0 0,0 1-1,0-1 1,-1 1 0,1-1 0,-1 1 0,-3 1 30,0 1 0,0-1 0,0 0 0,0 0-1,0 0 1,-1 0 0,1-1 0,-5 1 0,-90 20-38,-1-5 0,-153 6 0,102-11 0,10 3 0,-166 10 0,293-28 0,22-5 0,34-10 0,-38 17 0,100-36-176,168-37-1,115 1-312,-267 53 444,-96 15 45,623-80 0,-619 85-37,-63 2 222,-809 56 554,549-17-739,-103 13 0,379-52 0,24-3 0,34-4 0,185-38 0,1477-207-1983,-1643 242 1955,5-1 26,90 0 0,-456 29 790,-27 27 322,223-32-993,-64 10-117,-399 70 0,579-96 0,-1 0 0,1 1 0,0 0 0,11 1 0,19 1 0,224 3-229,420 63-1,255 105-327,-788-142 540,-89-23-25,-44-6 332,0 0 0,22 6 0,-39-7-287,0-1 1,-1 0 0,1 0-1,0 0 1,0 0 0,0 0-1,0 0 1,0 0-1,0 0 1,0 0 0,-1 0-1,1 0 1,0 1 0,0-1-1,0 0 1,0 0-1,0 0 1,0 0 0,0 0-1,0 0 1,0 1 0,0-1-1,0 0 1,-1 0-1,1 0 1,0 0 0,0 0-1,0 1 1,0-1 0,0 0-1,0 0 1,0 0-1,0 0 1,0 0 0,0 1-1,1-1 1,-1 0 0,0 0-1,0 0 1,0 0-1,0 0 1,0 0 0,0 1-1,0-1 1,0 0-1,0 0 1,0 0 0,0 0-1,1 0 1,-1 0 0,0 0-1,0 1 1,0-1-1,0 0 1,0 0 0,0 0-1,1 0 1,-1 0 0,0 0-1,0 0 1,0 0-1,0 0 1,1 0 0,-18 6-31,-14 2 27,-41 5 0,36-7 0,-1219 259-1038,1217-255 1038,-157 33 0,164-40 0,31-3 0,0 0 0,-1 0 0,1 0 0,0 0 0,0 0 0,0 0 0,-1 0 0,1 0 0,0 0 0,0 0 0,0 0 0,-1 0 0,1 0 0,0 0 0,0 0 0,0 0 0,-1 0 0,1 0 0,0 0 0,0-1 0,0 1 0,-1 0 0,1 0 0,0 0 0,0 0 0,0 0 0,0 0 0,-1-1 0,1 1 0,0 0 0,0 0 0,0 0 0,0-1 0,0 1 0,0 0 0,0 0 0,0 0 0,0-1 0,-1 1 0,1 0 0,0 0 0,0 0 0,0-1 0,0 1 0,0 0 0,0 0 0,0-1 0,0 1 0,1 0 0,-1 0 0,0 0 0,0-1 0,0 1 0,0 0 0,0 0 0,0 0 0,0-1 0,0 1 0,1 0 0,-1 0 0,0 0 0,3-4 24,1 1-1,0 0 1,-1 1-1,1-1 0,0 1 1,6-3-1,190-88 838,-151 72-857,194-82-159,1521-522-4829,-1710 610 4946,-39 12 37,0-1-1,0-1 1,0 0-1,0-1 0,23-14 1,-35 14 21,-14 3 124,-16 2 237,-1 1 0,0 2 0,-36 7-1,36-6-259,-182 33 158,1 9 1,2 9-1,-201 82 1,-583 281-1568,943-396 1158,-267 119 95,315-140 34,-21 12 112,22-9 168,14-2 236,47-3 440,83-14 0,-55 5-438,850-50-959,0 57 73,-898 4 369,2 1 0,50-6 0,-92 5 0,1 0 0,0-1 0,-1 1 0,1-1 0,0 0 0,-1 1 0,1-1 0,3-2 0,-6 2 0,1 1 0,-1 0 0,0 0 0,0 0 0,0 0 0,0 0 0,0-1 0,0 1 0,0 0 0,1 0 0,-1 0 0,0-1 0,0 1 0,0 0 0,0 0 0,0 0 0,0 0 0,0-1 0,0 1 0,0 0 0,0 0 0,0 0 0,0-1 0,0 1 0,0 0 0,0 0 0,0 0 0,0-1 0,-1 1 0,1 0 0,0 0 0,0 0 0,0 0 0,0-1 0,0 1 0,0 0 0,0 0 0,-1 0 0,-14-10 0,-19-3 255,1 2-1,-58-11 1,73 18-163,-207-41-300,-2 11 0,-333-9 1,283 42-81,-466 57 1,614-38 199,1 6 0,0 5 1,-192 71-1,283-84 352,24-7 25,13-9-283,0 1 0,0-1 0,0 0-1,0 0 1,0 0 0,0 0 0,0 1 0,0-1 0,0 0 0,0 0 0,0 0 0,0 0 0,0 1 0,0-1 0,0 0 0,0 0-1,0 0 1,0 0 0,0 1 0,0-1 0,1 0 0,-1 0 0,0 0 0,0 0 0,0 0 0,0 0 0,0 1 0,0-1-1,1 0 1,-1 0 0,0 0 0,0 0 0,0 0 0,0 0 0,0 0 0,1 0 0,-1 0 0,0 0 0,0 0 0,0 0-1,0 0 1,1 0 0,-1 0 0,0 0 0,0 0 0,0 0 0,0 0 0,1 0 0,-1 0 0,0 0 0,0 0 0,0 0-1,0 0 1,1 0 0,-1 0 0,0 0 0,0 0 0,0 0 0,1-1 0,19 1 199,1-1 0,0-1 0,39-9 1,-9 1-103,171-35-40,129-28-227,139-25-655,1957-361-4096,-2097 398 2949,-297 52 1482,-47 6 639,-10 2 175,-76 5 1435,30-1-1565,-753 58 3039,8 50-4011,-125 62 326,832-151 1322,78-18-143,21-5-2,25-8 153,475-123-335,5 26-1781,-399 82 993,307-56 92,93-19 176,-496 95-29,-17 4 0,1-1 0,-1 0 0,1 1 0,-1-2 0,1 1 0,-1 0 0,0-1 0,1 0 0,-1 0 0,8-5 0,-13 4 0,-7 0 0,-17 1 297,-45 0 0,39 2 47,-171 5-165,-314 48 1,-194 90-1750,-423 179-595,18 51-585,699-226 1059,360-126 1760,-55 17 415,110-38-456,1 1 0,-1-1 1,0 1-1,1-1 0,-1 0 1,0 0-1,1 1 1,-1-1-1,0 0 0,0 0 1,1 0-1,-1 0 0,0 0 1,0 0-1,1 0 0,-1 0 1,0 0-1,0 0 1,1 0-1,-1 0 0,0 0 1,0-1-1,1 1 0,-1 0 1,0-1-1,1 1 0,-1 0 1,0-1-1,1 1 0,-1-1 1,1-1 42,0 0 0,1 0 0,0 1 0,-1-1 0,1 0 0,0 1 0,0-1 0,0 1 0,0-1 0,0 1 0,0-1 0,3-1 0,19-23 322,2 2 0,1 1 0,1 0 1,40-24-1,135-87 590,667-343-542,48 65-918,-869 389 477,-43 17 0,-14 3 0,-19 2 0,0 1 0,1 1 0,-52 10 0,37-5 0,-192 34 0,-114 37-164,-127 56-563,-470 175 197,-4 28 557,134-46-607,769-274 514,-144 47 20,161-57 46,52-17 0,207-57 0,-207 61 0,237-58 164,123-18 539,139-20-513,770-119-2030,11 60-1023,-910 136 1412,-349 25 2663,44 5 0,-215-16-567,-566-43 5263,-1079-19-7406,822 37 918,941 36 580,-28 0 0,-49-8 0,85 9 32,-1 0 0,1 0 0,-1 0 0,1-1 0,0 1 0,-1 0 0,1-1 1,-1 1-1,1-1 0,0 1 0,0-1 0,-1 0 0,1 1 0,0-1 0,0 0 0,0 0 0,0 0 0,0 0 0,0 0 0,0 0 0,0 0 0,-1-2 0,8-7 613,17 1-61,133-24 773,-93 22-1198,204-30-53,185-13-270,170-13-655,1886-147-3113,-2163 195 2949,2 7-176,-287 13 1124,-47 1 36,-15-1 0,-22 1 161,-12-3 611,-67-10 1,67 6-519,-150-18 728,-102 0-114,-103 5-504,-94 18-479,-1255 173-2671,1228-80 1802,96-2 0,110-14 0,292-73 927,-304 90-873,312-93 948,0 1 0,0 1 0,0-1 0,1 1 0,-10 6 0,14-9-14,1 1 0,0-1 1,0 0-1,0 0 0,0 0 1,0 0-1,0 0 0,0 1 1,0-1-1,-1 0 0,1 0 1,0 0-1,0 1 0,0-1 1,0 0-1,0 0 0,0 0 1,0 0-1,0 1 0,0-1 1,0 0-1,0 0 0,0 0 1,0 0-1,0 1 0,0-1 1,0 0-1,1 0 0,-1 0 1,0 1-1,0-1 0,0 0 1,0 0-1,0 0 0,0 0 1,0 0-1,0 1 0,1-1 1,-1 0-1,0 0 0,0 0 1,0 0-1,0 0 0,0 0 1,1 0-1,-1 0 0,0 0 1,0 1-1,0-1 0,1 0 1,-1 0-1,0 0 0,0 0 1,0 0-1,1 0 0,29 3 566,33-4-41,1-3 0,92-18 1,-51 5-306,381-57-168,256-36-756,190-10 140,58 14-318,-63 25-106,-152 27 0,-187 26 0,-180 21 0,-155 14 327,-209-4 924,48 9-1,-50 2-43,-41-13-189,0-1-1,0 1 0,0-1 0,0 1 0,0 0 0,0 0 0,0-1 0,0 1 0,-1 0 0,1 0 0,0 0 0,0 0 0,-1 0 0,1 0 0,0 0 0,-1 0 0,1 2 1,-1-2-1,0 0-1,0 0 1,0 0 0,0 0 0,0 0 0,0 0 0,0 0 0,-1-1 0,1 1 0,0 0 0,-1 0 0,1 0 0,0 0 0,-1-1 0,1 1 0,-1 0 0,1-1 0,-1 1 0,0 0 0,1-1 0,-1 1 0,-1 0 0,-1 2 70,-1 0 0,0-1 0,0 1 1,-1-1-1,1 0 0,-5 1 0,-34 11 679,-71 13-1,46-13-381,-187 47 582,-200 61-37,-233 89-274,-190 100-709,-851 409-1581,53 131-533,1135-528 1168,152-69 0,137-72 0,217-156 812,0-1 214,1 1 0,2 2 0,-52 56-1,82-82 23,0 0-1,1 0 1,-1 0-1,1 0 1,0 0-1,-1 0 0,1 0 1,0 0-1,0 0 1,1 1-1,-1-1 1,0 0-1,0 5 1,1-7-45,0 1 0,0-1 0,0 1 1,1-1-1,-1 1 0,0-1 0,0 0 1,0 1-1,1-1 0,-1 1 0,0-1 1,1 0-1,-1 1 0,0-1 0,1 0 1,-1 1-1,0-1 0,1 0 0,-1 0 1,0 1-1,1-1 0,-1 0 0,1 0 1,0 1-1,22 0 537,-2-5-229,1 0 0,25-10-1,354-137 1305,-266 96-1298,394-158 602,136-47-469,1796-678-4118,-2116 810 2668,17-2-87,-320 106 2618,-42 24-1529,-76 8 1150,-328 76 797,14 34-1018,-144 75-265,-2552 1225-5456,2839-1286 4014,228-120 1428,26-12-225,44-16 246,337-137 1042,-300 115-1498,456-197 539,192-86-794,2289-1126-2975,-2599 1226 2013,-155 73 0,-214 116 704,-35 21 316,-1-1 1,0 0-1,-1-2 1,0 0-1,33-33 0,-52 46-8,0 1 0,0-1 0,-1 1 0,1-1 0,0 0 0,-1 0 0,1 1 0,0-1 0,-1 0 0,1 0 0,-1 0 0,1 0 0,-1 0 0,1 0 0,-1 0 0,0 0 0,0 0-1,1 0 1,-1 0 0,0 0 0,0 0 0,0 0 0,0 0 0,0 0 0,0 0 0,-1-2 0,0 2 28,0 0 0,0 0-1,0 1 1,-1-1 0,1 0 0,0 0 0,0 1-1,-1-1 1,1 1 0,-1-1 0,1 1 0,-1-1 0,1 1-1,0 0 1,-4 0 0,-34-4 730,-1 2-1,-47 4 1,18 0-198,-425 24 1864,339-7-1735,-196 49 0,-78 58-233,29 18-1604,8 16 0,-573 325-1,699-320 294,174-103 582,-117 104 1,195-153 258,-35 33 70,47-43-17,-1 0-1,1 0 1,-1 0-1,1 0 1,0 1 0,0-1-1,1 0 1,-1 1 0,1-1-1,-1 1 1,1 0-1,-1 4 1,2-7-38,1 0 1,-1 0-1,0 0 0,0 0 0,0 0 1,0 0-1,1 0 0,-1 0 0,0-1 1,1 1-1,-1 0 0,1 0 1,-1 0-1,1-1 0,-1 1 0,1 0 1,0-1-1,-1 1 0,1 0 0,0-1 1,-1 1-1,1-1 0,0 1 1,0-1-1,-1 1 0,1-1 0,0 0 1,0 1-1,0-1 0,0 0 0,1 1 1,5 1 95,0-1 0,0 1 1,1-1-1,-1 0 0,0-1 0,1 0 1,-1 0-1,11-2 0,71-17 533,-65 13-492,193-54 782,90-39-386,90-45-875,532-274 1,-585 219-389,-324 187 700,-1-2 0,-1 0 0,0-1 0,-1 0 0,27-33 0,-42 46 34,0 0-1,0-1 1,0 0-1,0 1 1,-1-1 0,1 0-1,-1 1 1,0-1-1,0 0 1,0 0-1,0 0 1,0 0-1,-1 0 1,1 0-1,-1-1 1,0 1-1,0 0 1,0 0-1,0 0 1,-1 0-1,0-4 1,-1 4 24,0 0 1,1 1-1,-1-1 1,0 0-1,-1 1 1,1 0-1,0-1 1,-1 1-1,1 0 1,-1 0-1,0 1 1,0-1-1,1 0 1,-1 1-1,0 0 1,0-1-1,-1 1 1,1 1-1,0-1 1,-4 0-1,-18-4 190,0 2 0,0 1 0,0 1-1,0 1 1,-35 4 0,-23 7-331,0 3 0,2 4 1,-143 51-1,-228 120-1086,-486 295 979,879-448 190,58-36 0,1 0 0,-1 1 0,0-1 0,0 0 0,0 1 0,0-1 0,0 1 0,1 0 0,-1-1 0,0 1 0,1 0 0,-1-1 0,0 1 0,1 0 0,-1 0 0,1 0 0,-1-1 0,1 1 0,-1 0 0,1 0 0,0 0 0,-1 0 0,1 0 0,0 0 0,0 0 0,0 0 0,0 0 0,0 1 0,1-1 0,1 0 0,-1-1 0,1 1 0,0 0 0,0 0 0,-1-1 0,1 0 0,0 1 0,0-1 0,0 0 0,0 0 0,0 0 0,-1 0 0,1 0 0,0 0 0,3-1 0,44-5 0,0-2 0,92-28 0,-66 15 0,263-76-164,120-39-655,668-242-1271,-32-85-735,-997 416 2183,132-87 1,-221 129 635,43-34 35,-48 37 46,0-1 0,0 0 0,0 0 0,0-1 0,-1 1 0,1-1 0,-1 1 0,0-1 0,0 0 0,0 0 0,0-3 0,-1 5-15,-1 0 0,0 0 0,0 1 0,0-1 0,0 0 0,0 1 0,0-1 0,-1 0 0,1 1 0,0-1 0,-1 0 0,1 1 0,-1-1 0,0 1 0,0-1 0,1 1 0,-1-1 1,0 1-1,0 0 0,-1-1 0,1 1 0,0 0 0,0 0 0,0 0 0,-1 0 0,1 0 0,-1 0 0,1 0 0,-3-1 0,-5-3 227,-1 1 0,1 0 0,-17-4 0,-9-1 225,-1 2-1,0 2 1,-1 1 0,-57 1 0,11 6 174,-83 16 1,53 1-699,2 5-1,1 5 1,1 4 0,-151 71 0,101-28-172,5 7 0,-174 125-1,231-141 128,3 4-1,3 4 1,-156 170-1,229-226 51,1 0 1,0 2-1,2 0 1,1 1-1,0 1 1,-14 35-1,27-55 11,-1 0 0,1 0 0,0 0 0,0 1-1,0-1 1,1 0 0,-1 1 0,1-1 0,0 1 0,0-1 0,1 0-1,-1 1 1,1-1 0,0 0 0,0 1 0,3 4 0,-2-5 8,0-1 1,0 1 0,1-1-1,-1 0 1,1 1-1,0-2 1,0 1 0,0 0-1,1 0 1,-1-1-1,1 0 1,-1 0-1,1 0 1,5 2 0,10 2 86,0 0 0,1-2 0,-1 0 0,1-1 0,0-2 0,22 1 0,28-3 38,1-2 0,-1-4 0,0-3 0,134-36 0,-103 15-209,-1-5 1,158-81 0,-187 79 71,110-78 0,-152 94 0,0-2 0,-2-1 0,0-1 0,-2-1 0,41-59 0,-61 80 46,-1-1-1,-1 0 1,1 0-1,-1 0 1,-1 0 0,4-11-1,-6 17-38,1 0-1,-1 0 0,0 0 1,0 0-1,0-1 0,0 1 1,0 0-1,0 0 1,0 0-1,0 0 0,0 0 1,0-1-1,0 1 0,-1 0 1,1 0-1,0 0 1,-1 0-1,1 0 0,-1 0 1,1 0-1,-1 0 1,0 0-1,1 0 0,-1 0 1,0 0-1,0 1 0,0-1 1,0 0-1,1 0 1,-1 1-1,0-1 0,0 1 1,0-1-1,0 1 1,0-1-1,-1 1 0,1-1 1,0 1-1,0 0 0,0 0 1,0 0-1,0 0 1,0 0-1,-1 0 0,1 0 1,0 0-1,0 0 0,0 0 1,-2 1-1,-19 2-1371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D2CAB-DC59-4C25-898A-6D37FE8F5DA5}" type="datetimeFigureOut">
              <a:rPr lang="en-IN" smtClean="0"/>
              <a:t>26-12-2025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5B738C-AE89-42BF-82C6-94D95B25EA64}" type="slidenum">
              <a:rPr lang="en-IN" smtClean="0"/>
              <a:t>‹#›</a:t>
            </a:fld>
            <a:endParaRPr lang="en-IN"/>
          </a:p>
        </p:txBody>
      </p:sp>
    </p:spTree>
    <p:extLst>
      <p:ext uri="{BB962C8B-B14F-4D97-AF65-F5344CB8AC3E}">
        <p14:creationId xmlns:p14="http://schemas.microsoft.com/office/powerpoint/2010/main" val="4214769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CFA23-1AF6-F9B0-538A-145DF4906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452AD-1B64-C00E-4426-F91068B99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0F714-B7D5-F7B2-FBD8-EEDA0C10B7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44540E3-A1DA-C292-56D1-5256AD53C9E1}"/>
              </a:ext>
            </a:extLst>
          </p:cNvPr>
          <p:cNvSpPr>
            <a:spLocks noGrp="1"/>
          </p:cNvSpPr>
          <p:nvPr>
            <p:ph type="sldNum" sz="quarter" idx="5"/>
          </p:nvPr>
        </p:nvSpPr>
        <p:spPr/>
        <p:txBody>
          <a:bodyPr/>
          <a:lstStyle/>
          <a:p>
            <a:fld id="{655B738C-AE89-42BF-82C6-94D95B25EA64}" type="slidenum">
              <a:rPr lang="en-IN" smtClean="0"/>
              <a:t>27</a:t>
            </a:fld>
            <a:endParaRPr lang="en-IN"/>
          </a:p>
        </p:txBody>
      </p:sp>
    </p:spTree>
    <p:extLst>
      <p:ext uri="{BB962C8B-B14F-4D97-AF65-F5344CB8AC3E}">
        <p14:creationId xmlns:p14="http://schemas.microsoft.com/office/powerpoint/2010/main" val="2078679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566869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927100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F467EC-8497-403A-9B77-99955ED1E2AD}" type="datetimeFigureOut">
              <a:rPr lang="en-IN" smtClean="0"/>
              <a:t>26-12-2025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91802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BF467EC-8497-403A-9B77-99955ED1E2AD}" type="datetimeFigureOut">
              <a:rPr lang="en-IN" smtClean="0"/>
              <a:t>26-12-2025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3689669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BF467EC-8497-403A-9B77-99955ED1E2AD}" type="datetimeFigureOut">
              <a:rPr lang="en-IN" smtClean="0"/>
              <a:t>26-12-2025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8515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BF467EC-8497-403A-9B77-99955ED1E2AD}" type="datetimeFigureOut">
              <a:rPr lang="en-IN" smtClean="0"/>
              <a:t>26-12-2025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4496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F467EC-8497-403A-9B77-99955ED1E2AD}" type="datetimeFigureOut">
              <a:rPr lang="en-IN" smtClean="0"/>
              <a:t>26-12-2025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141451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F467EC-8497-403A-9B77-99955ED1E2AD}" type="datetimeFigureOut">
              <a:rPr lang="en-IN" smtClean="0"/>
              <a:t>26-12-2025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4088179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F467EC-8497-403A-9B77-99955ED1E2AD}" type="datetimeFigureOut">
              <a:rPr lang="en-IN" smtClean="0"/>
              <a:t>26-12-2025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2897256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4013771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F467EC-8497-403A-9B77-99955ED1E2AD}" type="datetimeFigureOut">
              <a:rPr lang="en-IN" smtClean="0"/>
              <a:t>26-12-2025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15EBA6-5DA2-4132-8BF9-5B987E7C6138}" type="slidenum">
              <a:rPr lang="en-IN" smtClean="0"/>
              <a:t>‹#›</a:t>
            </a:fld>
            <a:endParaRPr lang="en-IN"/>
          </a:p>
        </p:txBody>
      </p:sp>
    </p:spTree>
    <p:extLst>
      <p:ext uri="{BB962C8B-B14F-4D97-AF65-F5344CB8AC3E}">
        <p14:creationId xmlns:p14="http://schemas.microsoft.com/office/powerpoint/2010/main" val="556462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F467EC-8497-403A-9B77-99955ED1E2AD}" type="datetimeFigureOut">
              <a:rPr lang="en-IN" smtClean="0"/>
              <a:t>26-12-2025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5EBA6-5DA2-4132-8BF9-5B987E7C6138}" type="slidenum">
              <a:rPr lang="en-IN" smtClean="0"/>
              <a:t>‹#›</a:t>
            </a:fld>
            <a:endParaRPr lang="en-IN"/>
          </a:p>
        </p:txBody>
      </p:sp>
    </p:spTree>
    <p:extLst>
      <p:ext uri="{BB962C8B-B14F-4D97-AF65-F5344CB8AC3E}">
        <p14:creationId xmlns:p14="http://schemas.microsoft.com/office/powerpoint/2010/main" val="2917198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thesai.org/Downloads/Volume15No9/Paper_23-SIEM_Threat_Intelligence_Protecting_Applications.pdf" TargetMode="External"/><Relationship Id="rId3" Type="http://schemas.openxmlformats.org/officeDocument/2006/relationships/hyperlink" Target="https://nvd.nist.gov/" TargetMode="External"/><Relationship Id="rId7" Type="http://schemas.openxmlformats.org/officeDocument/2006/relationships/hyperlink" Target="https://www.igi-global.com/chapter/integrating-wazuh-for-efficient-real-time-threat-monitoring-and-vulnerability-assessment-in-a-soc-environment/352705"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jetir.org/papers/JETIR2406A44.pdf" TargetMode="External"/><Relationship Id="rId5" Type="http://schemas.openxmlformats.org/officeDocument/2006/relationships/hyperlink" Target="https://securityheaders.com/" TargetMode="External"/><Relationship Id="rId4" Type="http://schemas.openxmlformats.org/officeDocument/2006/relationships/hyperlink" Target="https://www.cvedetail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algn="ctr">
              <a:defRPr/>
            </a:pPr>
            <a:r>
              <a:rPr lang="en-US" sz="3200" b="1" dirty="0">
                <a:solidFill>
                  <a:schemeClr val="tx1"/>
                </a:solidFill>
                <a:latin typeface="Times New Roman" panose="02020603050405020304" pitchFamily="18" charset="0"/>
                <a:cs typeface="Times New Roman" panose="02020603050405020304" pitchFamily="18" charset="0"/>
              </a:rPr>
              <a:t>ABSTRACT</a:t>
            </a:r>
          </a:p>
        </p:txBody>
      </p:sp>
      <p:sp>
        <p:nvSpPr>
          <p:cNvPr id="3075" name="Rectangle 3"/>
          <p:cNvSpPr>
            <a:spLocks noGrp="1" noChangeArrowheads="1"/>
          </p:cNvSpPr>
          <p:nvPr>
            <p:ph idx="1"/>
          </p:nvPr>
        </p:nvSpPr>
        <p:spPr>
          <a:xfrm>
            <a:off x="1027611" y="1508253"/>
            <a:ext cx="10431572" cy="4030398"/>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Real-Time Threat Monitoring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functions as a robust SIEM platform, collecting and analyzing security data across endpoints, networks and cloud environments to detect anomalies and breaches.</a:t>
            </a:r>
          </a:p>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Automated Incident Response</a:t>
            </a:r>
            <a:r>
              <a:rPr lang="en-US" sz="1800" dirty="0">
                <a:latin typeface="Times New Roman" panose="02020603050405020304" pitchFamily="18" charset="0"/>
                <a:cs typeface="Times New Roman" panose="02020603050405020304" pitchFamily="18" charset="0"/>
              </a:rPr>
              <a:t>: Shuffle complements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by executing customizable playbooks that automate responses to detected threats, minimizing manual effort and accelerating remediation.</a:t>
            </a:r>
          </a:p>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Proactive Security Operations</a:t>
            </a:r>
            <a:r>
              <a:rPr lang="en-US" sz="1800" dirty="0">
                <a:latin typeface="Times New Roman" panose="02020603050405020304" pitchFamily="18" charset="0"/>
                <a:cs typeface="Times New Roman" panose="02020603050405020304" pitchFamily="18" charset="0"/>
              </a:rPr>
              <a:t>: The integration empowers SOC teams to transition from reactive to proactive defense, enhancing visibility, operational efficiency and threat resilience.</a:t>
            </a:r>
          </a:p>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Scalable Cybersecurity Solution</a:t>
            </a:r>
            <a:r>
              <a:rPr lang="en-US" sz="1800" dirty="0">
                <a:latin typeface="Times New Roman" panose="02020603050405020304" pitchFamily="18" charset="0"/>
                <a:cs typeface="Times New Roman" panose="02020603050405020304" pitchFamily="18" charset="0"/>
              </a:rPr>
              <a:t>: This system offers a flexible, intelligent architecture capable of addressing modern threats like phishing and DoS attacks while supporting compliance and growth.</a:t>
            </a:r>
          </a:p>
        </p:txBody>
      </p:sp>
    </p:spTree>
    <p:extLst>
      <p:ext uri="{BB962C8B-B14F-4D97-AF65-F5344CB8AC3E}">
        <p14:creationId xmlns:p14="http://schemas.microsoft.com/office/powerpoint/2010/main" val="47625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a:xfrm>
            <a:off x="899160" y="1505811"/>
            <a:ext cx="10515600" cy="4351338"/>
          </a:xfrm>
        </p:spPr>
        <p:txBody>
          <a:bodyPr>
            <a:noAutofit/>
          </a:bodyPr>
          <a:lstStyle/>
          <a:p>
            <a:pPr marL="0" indent="0">
              <a:lnSpc>
                <a:spcPct val="100000"/>
              </a:lnSpc>
              <a:buNone/>
            </a:pPr>
            <a:r>
              <a:rPr lang="en-US" sz="1800" b="1" dirty="0">
                <a:latin typeface="Times New Roman" panose="02020603050405020304" pitchFamily="18" charset="0"/>
                <a:cs typeface="Times New Roman" panose="02020603050405020304" pitchFamily="18" charset="0"/>
              </a:rPr>
              <a:t>1. Develop a Real-Time Cybersecurity Framework </a:t>
            </a:r>
          </a:p>
          <a:p>
            <a:pPr marL="0" indent="0">
              <a:lnSpc>
                <a:spcPct val="100000"/>
              </a:lnSpc>
              <a:buNone/>
            </a:pPr>
            <a:r>
              <a:rPr lang="en-US" sz="1800" dirty="0">
                <a:latin typeface="Times New Roman" panose="02020603050405020304" pitchFamily="18" charset="0"/>
                <a:cs typeface="Times New Roman" panose="02020603050405020304" pitchFamily="18" charset="0"/>
              </a:rPr>
              <a:t>     Integrate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(SIEM) and Shuffle (SOAR) to provide continuous monitoring, threat detection and automated response in real-time. </a:t>
            </a:r>
          </a:p>
          <a:p>
            <a:pPr marL="0" indent="0">
              <a:lnSpc>
                <a:spcPct val="100000"/>
              </a:lnSpc>
              <a:buNone/>
            </a:pPr>
            <a:r>
              <a:rPr lang="en-US" sz="1800" b="1" dirty="0">
                <a:latin typeface="Times New Roman" panose="02020603050405020304" pitchFamily="18" charset="0"/>
                <a:cs typeface="Times New Roman" panose="02020603050405020304" pitchFamily="18" charset="0"/>
              </a:rPr>
              <a:t>2. Enable Intelligent Threat Detection and Correlation </a:t>
            </a:r>
          </a:p>
          <a:p>
            <a:pPr marL="0" indent="0">
              <a:lnSpc>
                <a:spcPct val="100000"/>
              </a:lnSpc>
              <a:buNone/>
            </a:pPr>
            <a:r>
              <a:rPr lang="en-US" sz="1800" dirty="0">
                <a:latin typeface="Times New Roman" panose="02020603050405020304" pitchFamily="18" charset="0"/>
                <a:cs typeface="Times New Roman" panose="02020603050405020304" pitchFamily="18" charset="0"/>
              </a:rPr>
              <a:t>    Utilize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to analyze logs, system activity and network traffic, identifying threats through rule-based and behavioral analysis. </a:t>
            </a:r>
          </a:p>
          <a:p>
            <a:pPr marL="0" indent="0">
              <a:lnSpc>
                <a:spcPct val="100000"/>
              </a:lnSpc>
              <a:buNone/>
            </a:pPr>
            <a:r>
              <a:rPr lang="en-US" sz="1800" b="1" dirty="0">
                <a:latin typeface="Times New Roman" panose="02020603050405020304" pitchFamily="18" charset="0"/>
                <a:cs typeface="Times New Roman" panose="02020603050405020304" pitchFamily="18" charset="0"/>
              </a:rPr>
              <a:t>3. Automate Incident Response </a:t>
            </a:r>
          </a:p>
          <a:p>
            <a:pPr marL="0" indent="0">
              <a:lnSpc>
                <a:spcPct val="100000"/>
              </a:lnSpc>
              <a:buNone/>
            </a:pPr>
            <a:r>
              <a:rPr lang="en-US" sz="1800" dirty="0">
                <a:latin typeface="Times New Roman" panose="02020603050405020304" pitchFamily="18" charset="0"/>
                <a:cs typeface="Times New Roman" panose="02020603050405020304" pitchFamily="18" charset="0"/>
              </a:rPr>
              <a:t>     Leverage Shuffle to build customizable workflows that automatically respond to incidents, reducing human intervention and response time. </a:t>
            </a:r>
          </a:p>
          <a:p>
            <a:pPr marL="0" indent="0">
              <a:lnSpc>
                <a:spcPct val="100000"/>
              </a:lnSpc>
              <a:buNone/>
            </a:pPr>
            <a:r>
              <a:rPr lang="en-US" sz="1800" b="1" dirty="0">
                <a:latin typeface="Times New Roman" panose="02020603050405020304" pitchFamily="18" charset="0"/>
                <a:cs typeface="Times New Roman" panose="02020603050405020304" pitchFamily="18" charset="0"/>
              </a:rPr>
              <a:t>4. Enhance Security Operations Center (SOC) Efficiency </a:t>
            </a:r>
          </a:p>
          <a:p>
            <a:pPr marL="0" indent="0">
              <a:lnSpc>
                <a:spcPct val="100000"/>
              </a:lnSpc>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Support SOCs with a centralized, scalable and automated solution that transitions operations from reactive to proactive defense.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2854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INTRODUCTION </a:t>
            </a:r>
          </a:p>
        </p:txBody>
      </p:sp>
      <p:sp>
        <p:nvSpPr>
          <p:cNvPr id="3" name="Content Placeholder 2"/>
          <p:cNvSpPr>
            <a:spLocks noGrp="1"/>
          </p:cNvSpPr>
          <p:nvPr>
            <p:ph idx="1"/>
          </p:nvPr>
        </p:nvSpPr>
        <p:spPr>
          <a:xfrm>
            <a:off x="1018903" y="1690688"/>
            <a:ext cx="10616744" cy="4656571"/>
          </a:xfrm>
        </p:spPr>
        <p:txBody>
          <a:bodyPr>
            <a:no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This project integrates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and Shuffle to deliver a proactive cybersecurity solution. </a:t>
            </a:r>
            <a:r>
              <a:rPr lang="en-US" sz="1800" dirty="0" err="1">
                <a:latin typeface="Times New Roman" panose="02020603050405020304" pitchFamily="18" charset="0"/>
                <a:cs typeface="Times New Roman" panose="02020603050405020304" pitchFamily="18" charset="0"/>
              </a:rPr>
              <a:t>Wazuh</a:t>
            </a:r>
            <a:r>
              <a:rPr lang="en-US" sz="1800" dirty="0">
                <a:latin typeface="Times New Roman" panose="02020603050405020304" pitchFamily="18" charset="0"/>
                <a:cs typeface="Times New Roman" panose="02020603050405020304" pitchFamily="18" charset="0"/>
              </a:rPr>
              <a:t> provides real-time threat detection across endpoints, networks and cloud environments, while Shuffle automates incident response through customizable playbooks. Together, they reduce manual effort, accelerate response times and enhance visibility into system behavior. By combining intelligent automation with continuous monitoring, this platform empowers Security Operations Centers to shift from reactive defense to strategic resilience—addressing threats like phishing and DoS with speed, precision and adaptability.</a:t>
            </a:r>
          </a:p>
        </p:txBody>
      </p:sp>
    </p:spTree>
    <p:extLst>
      <p:ext uri="{BB962C8B-B14F-4D97-AF65-F5344CB8AC3E}">
        <p14:creationId xmlns:p14="http://schemas.microsoft.com/office/powerpoint/2010/main" val="2529862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4494-7C82-69EF-0276-C8E93D18A35D}"/>
              </a:ext>
            </a:extLst>
          </p:cNvPr>
          <p:cNvSpPr>
            <a:spLocks noGrp="1"/>
          </p:cNvSpPr>
          <p:nvPr>
            <p:ph type="title"/>
          </p:nvPr>
        </p:nvSpPr>
        <p:spPr>
          <a:xfrm>
            <a:off x="690154" y="495753"/>
            <a:ext cx="10515600" cy="1325563"/>
          </a:xfrm>
        </p:spPr>
        <p:txBody>
          <a:bodyPr/>
          <a:lstStyle/>
          <a:p>
            <a:pPr algn="ctr"/>
            <a:r>
              <a:rPr lang="en-IN" sz="44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EXISTING SYSTEM </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8AB6378-8D51-6C65-C58C-53A22F091DEE}"/>
              </a:ext>
            </a:extLst>
          </p:cNvPr>
          <p:cNvSpPr>
            <a:spLocks noGrp="1"/>
          </p:cNvSpPr>
          <p:nvPr>
            <p:ph idx="1"/>
          </p:nvPr>
        </p:nvSpPr>
        <p:spPr>
          <a:xfrm>
            <a:off x="1062446" y="2081349"/>
            <a:ext cx="10049691" cy="3335383"/>
          </a:xfrm>
        </p:spPr>
        <p:txBody>
          <a:bodyPr/>
          <a:lstStyle/>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1</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err="1">
                <a:latin typeface="Times New Roman" panose="02020603050405020304" pitchFamily="18" charset="0"/>
                <a:ea typeface="Calibri" panose="020F0502020204030204" pitchFamily="34" charset="0"/>
                <a:cs typeface="Times New Roman" panose="02020603050405020304" pitchFamily="18" charset="0"/>
              </a:rPr>
              <a:t>Wazuh</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serves as the core threat detection engine, analyzing logs, monitoring file integrity and identifying vulnerabilities across endpoints and servers.</a:t>
            </a:r>
          </a:p>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2</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 Shuffle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enables automated incident response by executing playbooks triggered by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Wazuh</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alerts, reducing manual intervention and accelerating mitigation.</a:t>
            </a:r>
          </a:p>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3. The system provides a centralized dashboard for real-time visibility, allowing security teams to monitor threats, prioritize alerts and respond efficiently.</a:t>
            </a:r>
          </a:p>
          <a:p>
            <a:pPr marL="0" indent="0">
              <a:lnSpc>
                <a:spcPct val="100000"/>
              </a:lnSpc>
              <a:spcAft>
                <a:spcPts val="800"/>
              </a:spcAft>
              <a:buNone/>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4. Integration between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Wazuh</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and Shuffle supports compliance, streamlines operations and </a:t>
            </a: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enhances overall security</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posture by ensuring consistent, scalable and rapid threat response.</a:t>
            </a:r>
            <a:endParaRPr lang="en-IN" sz="1800" dirty="0"/>
          </a:p>
        </p:txBody>
      </p:sp>
    </p:spTree>
    <p:extLst>
      <p:ext uri="{BB962C8B-B14F-4D97-AF65-F5344CB8AC3E}">
        <p14:creationId xmlns:p14="http://schemas.microsoft.com/office/powerpoint/2010/main" val="3347516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2510-3E2E-EC9C-3491-306CFB6A47A1}"/>
              </a:ext>
            </a:extLst>
          </p:cNvPr>
          <p:cNvSpPr>
            <a:spLocks noGrp="1"/>
          </p:cNvSpPr>
          <p:nvPr>
            <p:ph type="title"/>
          </p:nvPr>
        </p:nvSpPr>
        <p:spPr>
          <a:xfrm>
            <a:off x="681446" y="939892"/>
            <a:ext cx="10515600" cy="1325563"/>
          </a:xfrm>
        </p:spPr>
        <p:txBody>
          <a:bodyPr/>
          <a:lstStyle/>
          <a:p>
            <a:pPr algn="ct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PROPOSED SYSTEM</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8395FE9-B0E8-A85B-09E3-ED81F2BCADFC}"/>
              </a:ext>
            </a:extLst>
          </p:cNvPr>
          <p:cNvSpPr>
            <a:spLocks noGrp="1"/>
          </p:cNvSpPr>
          <p:nvPr>
            <p:ph idx="1"/>
          </p:nvPr>
        </p:nvSpPr>
        <p:spPr>
          <a:xfrm>
            <a:off x="931817" y="2265455"/>
            <a:ext cx="10014858" cy="3368992"/>
          </a:xfrm>
        </p:spPr>
        <p:txBody>
          <a:bodyPr>
            <a:normAutofit/>
          </a:bodyPr>
          <a:lstStyle/>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Enhanced Threat Detection</a:t>
            </a:r>
            <a:r>
              <a:rPr lang="en-US" sz="2000" dirty="0">
                <a:latin typeface="Times New Roman" panose="02020603050405020304" pitchFamily="18" charset="0"/>
                <a:cs typeface="Times New Roman" panose="02020603050405020304" pitchFamily="18" charset="0"/>
              </a:rPr>
              <a:t>: Deploy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agents across endpoints and cloud infrastructure to improve log collection, anomaly detection and vulnerability scanning.</a:t>
            </a:r>
          </a:p>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Automated Response Workflows</a:t>
            </a:r>
            <a:r>
              <a:rPr lang="en-US" sz="2000" dirty="0">
                <a:latin typeface="Times New Roman" panose="02020603050405020304" pitchFamily="18" charset="0"/>
                <a:cs typeface="Times New Roman" panose="02020603050405020304" pitchFamily="18" charset="0"/>
              </a:rPr>
              <a:t>: Integrate Shuffle to build dynamic playbooks that automatically respond to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alerts—quarantine hosts, notify teams, or escalate incidents.</a:t>
            </a:r>
          </a:p>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Unified Security Dashboard</a:t>
            </a:r>
            <a:r>
              <a:rPr lang="en-US" sz="2000" dirty="0">
                <a:latin typeface="Times New Roman" panose="02020603050405020304" pitchFamily="18" charset="0"/>
                <a:cs typeface="Times New Roman" panose="02020603050405020304" pitchFamily="18" charset="0"/>
              </a:rPr>
              <a:t>: Create a centralized interface for monitoring alerts, tracking response actions and visualizing threat trends in real time.</a:t>
            </a:r>
          </a:p>
          <a:p>
            <a:pPr marL="0" indent="0">
              <a:lnSpc>
                <a:spcPct val="100000"/>
              </a:lnSpc>
              <a:spcAft>
                <a:spcPts val="800"/>
              </a:spcAft>
              <a:buNone/>
            </a:pPr>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Scalable &amp; Compliant Architecture</a:t>
            </a:r>
            <a:r>
              <a:rPr lang="en-US" sz="2000" dirty="0">
                <a:latin typeface="Times New Roman" panose="02020603050405020304" pitchFamily="18" charset="0"/>
                <a:cs typeface="Times New Roman" panose="02020603050405020304" pitchFamily="18" charset="0"/>
              </a:rPr>
              <a:t>: Design the system to support enterprise growth while ensuring alignment with regulatory standards like ISO 27001, HIPAA and GDPR.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00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816C-67D1-963F-FD0E-50816294F8AF}"/>
              </a:ext>
            </a:extLst>
          </p:cNvPr>
          <p:cNvSpPr>
            <a:spLocks noGrp="1"/>
          </p:cNvSpPr>
          <p:nvPr>
            <p:ph type="title"/>
          </p:nvPr>
        </p:nvSpPr>
        <p:spPr>
          <a:xfrm>
            <a:off x="1149530" y="365125"/>
            <a:ext cx="9808029" cy="1325563"/>
          </a:xfrm>
        </p:spPr>
        <p:txBody>
          <a:bodyPr>
            <a:normAutofit/>
          </a:bodyPr>
          <a:lstStyle/>
          <a:p>
            <a:r>
              <a:rPr lang="en-US" b="1" dirty="0">
                <a:latin typeface="Times New Roman" panose="02020603050405020304" pitchFamily="18" charset="0"/>
                <a:cs typeface="Times New Roman" panose="02020603050405020304" pitchFamily="18" charset="0"/>
              </a:rPr>
              <a:t>Flow</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Chart:</a:t>
            </a:r>
            <a:endParaRPr lang="en-IN"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1DA484B-094C-A60C-9527-B00787AA08D9}"/>
              </a:ext>
            </a:extLst>
          </p:cNvPr>
          <p:cNvSpPr/>
          <p:nvPr/>
        </p:nvSpPr>
        <p:spPr>
          <a:xfrm>
            <a:off x="1216112" y="2318307"/>
            <a:ext cx="2331719" cy="4141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latin typeface="Times New Roman" panose="02020603050405020304" pitchFamily="18" charset="0"/>
                <a:cs typeface="Times New Roman" panose="02020603050405020304" pitchFamily="18" charset="0"/>
              </a:rPr>
              <a:t>Wazuh</a:t>
            </a:r>
            <a:r>
              <a:rPr lang="en-US" dirty="0">
                <a:latin typeface="Times New Roman" panose="02020603050405020304" pitchFamily="18" charset="0"/>
                <a:cs typeface="Times New Roman" panose="02020603050405020304" pitchFamily="18" charset="0"/>
              </a:rPr>
              <a:t> manager</a:t>
            </a:r>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72FFD21-3122-8FE7-921B-CF351D2C99CC}"/>
              </a:ext>
            </a:extLst>
          </p:cNvPr>
          <p:cNvSpPr/>
          <p:nvPr/>
        </p:nvSpPr>
        <p:spPr>
          <a:xfrm>
            <a:off x="1216112" y="3709974"/>
            <a:ext cx="2331719" cy="4354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Shuffle</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7E8AFEE-12F4-31FD-4FF7-DB8FF30F42E6}"/>
              </a:ext>
            </a:extLst>
          </p:cNvPr>
          <p:cNvSpPr/>
          <p:nvPr/>
        </p:nvSpPr>
        <p:spPr>
          <a:xfrm>
            <a:off x="7263307" y="2866504"/>
            <a:ext cx="1713052" cy="5242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PC</a:t>
            </a:r>
            <a:endParaRPr lang="en-IN"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9537F2B-5BDF-9D59-9BBC-851F61462600}"/>
              </a:ext>
            </a:extLst>
          </p:cNvPr>
          <p:cNvSpPr/>
          <p:nvPr/>
        </p:nvSpPr>
        <p:spPr>
          <a:xfrm>
            <a:off x="8893987" y="5324760"/>
            <a:ext cx="1713053" cy="4282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SOC Analyst</a:t>
            </a:r>
            <a:endParaRPr lang="en-IN"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9E8EA225-363F-6D95-E71B-8C490C14F37E}"/>
              </a:ext>
            </a:extLst>
          </p:cNvPr>
          <p:cNvSpPr/>
          <p:nvPr/>
        </p:nvSpPr>
        <p:spPr>
          <a:xfrm>
            <a:off x="5122762" y="2831291"/>
            <a:ext cx="1478280" cy="559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Router</a:t>
            </a:r>
            <a:endParaRPr lang="en-IN"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A57B142F-780B-3F52-6F63-D7EF70EFCFC1}"/>
              </a:ext>
            </a:extLst>
          </p:cNvPr>
          <p:cNvSpPr/>
          <p:nvPr/>
        </p:nvSpPr>
        <p:spPr>
          <a:xfrm>
            <a:off x="1216112" y="5225625"/>
            <a:ext cx="2331719" cy="6265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Send Response Action</a:t>
            </a:r>
            <a:endParaRPr lang="en-IN" dirty="0">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D733BD3C-9043-77BF-BC39-7D46B83BC0E8}"/>
              </a:ext>
            </a:extLst>
          </p:cNvPr>
          <p:cNvSpPr/>
          <p:nvPr/>
        </p:nvSpPr>
        <p:spPr>
          <a:xfrm>
            <a:off x="5122762" y="1521800"/>
            <a:ext cx="1478280" cy="38217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Internet</a:t>
            </a:r>
            <a:endParaRPr lang="en-IN" dirty="0">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id="{F51364BC-3667-F7FB-8296-A27B93FC7883}"/>
              </a:ext>
            </a:extLst>
          </p:cNvPr>
          <p:cNvCxnSpPr>
            <a:cxnSpLocks/>
            <a:stCxn id="11" idx="4"/>
            <a:endCxn id="9" idx="0"/>
          </p:cNvCxnSpPr>
          <p:nvPr/>
        </p:nvCxnSpPr>
        <p:spPr>
          <a:xfrm>
            <a:off x="5861902" y="1903974"/>
            <a:ext cx="0" cy="92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7313740-7E6E-3356-EFE1-CE2E2E41805D}"/>
              </a:ext>
            </a:extLst>
          </p:cNvPr>
          <p:cNvCxnSpPr>
            <a:cxnSpLocks/>
            <a:stCxn id="10" idx="3"/>
            <a:endCxn id="8" idx="1"/>
          </p:cNvCxnSpPr>
          <p:nvPr/>
        </p:nvCxnSpPr>
        <p:spPr>
          <a:xfrm flipV="1">
            <a:off x="3547831" y="5538892"/>
            <a:ext cx="53461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D52622-877D-A572-0F96-4353255840F0}"/>
              </a:ext>
            </a:extLst>
          </p:cNvPr>
          <p:cNvCxnSpPr>
            <a:stCxn id="4" idx="2"/>
            <a:endCxn id="5" idx="0"/>
          </p:cNvCxnSpPr>
          <p:nvPr/>
        </p:nvCxnSpPr>
        <p:spPr>
          <a:xfrm>
            <a:off x="2381972" y="2732408"/>
            <a:ext cx="0" cy="977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A89BE30-DD9C-38FA-97D3-9E4A266D741D}"/>
              </a:ext>
            </a:extLst>
          </p:cNvPr>
          <p:cNvCxnSpPr>
            <a:cxnSpLocks/>
            <a:stCxn id="5" idx="2"/>
            <a:endCxn id="10" idx="0"/>
          </p:cNvCxnSpPr>
          <p:nvPr/>
        </p:nvCxnSpPr>
        <p:spPr>
          <a:xfrm>
            <a:off x="2381972" y="4145375"/>
            <a:ext cx="0" cy="1080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6A6ABB48-82F9-EBBF-6884-2AC378965D4A}"/>
              </a:ext>
            </a:extLst>
          </p:cNvPr>
          <p:cNvCxnSpPr>
            <a:cxnSpLocks/>
          </p:cNvCxnSpPr>
          <p:nvPr/>
        </p:nvCxnSpPr>
        <p:spPr>
          <a:xfrm rot="10800000">
            <a:off x="3608071" y="2550504"/>
            <a:ext cx="1631402" cy="18568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F73BDBD-4B9C-2785-06AA-04BA4364F47A}"/>
              </a:ext>
            </a:extLst>
          </p:cNvPr>
          <p:cNvSpPr/>
          <p:nvPr/>
        </p:nvSpPr>
        <p:spPr>
          <a:xfrm>
            <a:off x="5122762" y="4199748"/>
            <a:ext cx="1713053" cy="428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Events</a:t>
            </a:r>
            <a:endParaRPr lang="en-IN" dirty="0"/>
          </a:p>
        </p:txBody>
      </p:sp>
      <p:cxnSp>
        <p:nvCxnSpPr>
          <p:cNvPr id="35" name="Straight Arrow Connector 34">
            <a:extLst>
              <a:ext uri="{FF2B5EF4-FFF2-40B4-BE49-F238E27FC236}">
                <a16:creationId xmlns:a16="http://schemas.microsoft.com/office/drawing/2014/main" id="{33BC56E3-D4E4-729D-F24D-59D87ECC282A}"/>
              </a:ext>
            </a:extLst>
          </p:cNvPr>
          <p:cNvCxnSpPr>
            <a:stCxn id="9" idx="3"/>
            <a:endCxn id="7" idx="1"/>
          </p:cNvCxnSpPr>
          <p:nvPr/>
        </p:nvCxnSpPr>
        <p:spPr>
          <a:xfrm>
            <a:off x="6601042" y="3111014"/>
            <a:ext cx="662265" cy="17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B95616D6-BC8F-2997-1661-520FE3BDEF60}"/>
              </a:ext>
            </a:extLst>
          </p:cNvPr>
          <p:cNvCxnSpPr>
            <a:stCxn id="7" idx="2"/>
          </p:cNvCxnSpPr>
          <p:nvPr/>
        </p:nvCxnSpPr>
        <p:spPr>
          <a:xfrm rot="5400000">
            <a:off x="7014434" y="3308477"/>
            <a:ext cx="1023140" cy="118765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48E2552-C043-9068-F7D9-86058598C838}"/>
              </a:ext>
            </a:extLst>
          </p:cNvPr>
          <p:cNvSpPr/>
          <p:nvPr/>
        </p:nvSpPr>
        <p:spPr>
          <a:xfrm>
            <a:off x="7263307" y="2042160"/>
            <a:ext cx="1713052" cy="5242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Incoming</a:t>
            </a:r>
            <a:endParaRPr lang="en-IN" dirty="0">
              <a:latin typeface="Times New Roman" panose="02020603050405020304" pitchFamily="18" charset="0"/>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F5E5D02E-4AD0-72F7-9F66-4247F20BC866}"/>
              </a:ext>
            </a:extLst>
          </p:cNvPr>
          <p:cNvCxnSpPr>
            <a:stCxn id="38" idx="1"/>
          </p:cNvCxnSpPr>
          <p:nvPr/>
        </p:nvCxnSpPr>
        <p:spPr>
          <a:xfrm flipH="1">
            <a:off x="5831422" y="2304276"/>
            <a:ext cx="1431885" cy="1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668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584DC23-E2C7-E792-BD94-A0BC31E28DC6}"/>
              </a:ext>
            </a:extLst>
          </p:cNvPr>
          <p:cNvSpPr>
            <a:spLocks noGrp="1"/>
          </p:cNvSpPr>
          <p:nvPr>
            <p:ph type="title"/>
          </p:nvPr>
        </p:nvSpPr>
        <p:spPr>
          <a:xfrm>
            <a:off x="1088572" y="365125"/>
            <a:ext cx="10265228" cy="1325563"/>
          </a:xfrm>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5" name="Subtitle 4">
            <a:extLst>
              <a:ext uri="{FF2B5EF4-FFF2-40B4-BE49-F238E27FC236}">
                <a16:creationId xmlns:a16="http://schemas.microsoft.com/office/drawing/2014/main" id="{58A37F10-DA2A-017B-6F44-30E176678660}"/>
              </a:ext>
            </a:extLst>
          </p:cNvPr>
          <p:cNvSpPr>
            <a:spLocks noGrp="1"/>
          </p:cNvSpPr>
          <p:nvPr>
            <p:ph idx="1"/>
          </p:nvPr>
        </p:nvSpPr>
        <p:spPr>
          <a:xfrm>
            <a:off x="1088572" y="1755956"/>
            <a:ext cx="10075818" cy="4351338"/>
          </a:xfrm>
        </p:spPr>
        <p:txBody>
          <a:bodyPr>
            <a:normAutofit/>
          </a:bodyPr>
          <a:lstStyle/>
          <a:p>
            <a:r>
              <a:rPr lang="en-US" sz="2000" dirty="0">
                <a:latin typeface="Times New Roman" panose="02020603050405020304" pitchFamily="18" charset="0"/>
                <a:cs typeface="Times New Roman" panose="02020603050405020304" pitchFamily="18" charset="0"/>
              </a:rPr>
              <a:t>Cyber threats like phishing, DoS and privilege escalation are growing in complexity and frequency.</a:t>
            </a:r>
          </a:p>
          <a:p>
            <a:r>
              <a:rPr lang="en-US" sz="2000" dirty="0">
                <a:latin typeface="Times New Roman" panose="02020603050405020304" pitchFamily="18" charset="0"/>
                <a:cs typeface="Times New Roman" panose="02020603050405020304" pitchFamily="18" charset="0"/>
              </a:rPr>
              <a:t>Traditional SOC operations rely heavily on manual detection and response, leading to delays and inefficiencies.</a:t>
            </a:r>
          </a:p>
          <a:p>
            <a:r>
              <a:rPr lang="en-US" sz="2000" dirty="0">
                <a:latin typeface="Times New Roman" panose="02020603050405020304" pitchFamily="18" charset="0"/>
                <a:cs typeface="Times New Roman" panose="02020603050405020304" pitchFamily="18" charset="0"/>
              </a:rPr>
              <a:t>Lack of centralized visibility across endpoints, networks and cloud environments.</a:t>
            </a:r>
          </a:p>
          <a:p>
            <a:r>
              <a:rPr lang="en-US" sz="2000" dirty="0">
                <a:latin typeface="Times New Roman" panose="02020603050405020304" pitchFamily="18" charset="0"/>
                <a:cs typeface="Times New Roman" panose="02020603050405020304" pitchFamily="18" charset="0"/>
              </a:rPr>
              <a:t>Organizations struggle to meet compliance standards due to fragmented security workflows.</a:t>
            </a:r>
          </a:p>
          <a:p>
            <a:r>
              <a:rPr lang="en-US" sz="2000" dirty="0">
                <a:latin typeface="Times New Roman" panose="02020603050405020304" pitchFamily="18" charset="0"/>
                <a:cs typeface="Times New Roman" panose="02020603050405020304" pitchFamily="18" charset="0"/>
              </a:rPr>
              <a:t>There is a critical need for an integrated, automated and scalable cybersecurity framework.</a:t>
            </a:r>
          </a:p>
          <a:p>
            <a:endParaRPr lang="en-IN" dirty="0"/>
          </a:p>
        </p:txBody>
      </p:sp>
    </p:spTree>
    <p:extLst>
      <p:ext uri="{BB962C8B-B14F-4D97-AF65-F5344CB8AC3E}">
        <p14:creationId xmlns:p14="http://schemas.microsoft.com/office/powerpoint/2010/main" val="2960155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9F06-8A5B-FC11-CC6E-7FAF0EEE5CD7}"/>
              </a:ext>
            </a:extLst>
          </p:cNvPr>
          <p:cNvSpPr>
            <a:spLocks noGrp="1"/>
          </p:cNvSpPr>
          <p:nvPr>
            <p:ph type="title"/>
          </p:nvPr>
        </p:nvSpPr>
        <p:spPr>
          <a:xfrm>
            <a:off x="1149530" y="365125"/>
            <a:ext cx="10204269" cy="1325563"/>
          </a:xfrm>
        </p:spPr>
        <p:txBody>
          <a:bodyPr/>
          <a:lstStyle/>
          <a:p>
            <a:r>
              <a:rPr lang="en-IN" b="1" dirty="0">
                <a:latin typeface="Times New Roman" panose="02020603050405020304" pitchFamily="18" charset="0"/>
                <a:cs typeface="Times New Roman" panose="02020603050405020304" pitchFamily="18" charset="0"/>
              </a:rPr>
              <a:t>Use Case Scenario:</a:t>
            </a:r>
          </a:p>
        </p:txBody>
      </p:sp>
      <p:sp>
        <p:nvSpPr>
          <p:cNvPr id="3" name="Subtitle 2">
            <a:extLst>
              <a:ext uri="{FF2B5EF4-FFF2-40B4-BE49-F238E27FC236}">
                <a16:creationId xmlns:a16="http://schemas.microsoft.com/office/drawing/2014/main" id="{25B4BCE3-3E97-7EFE-AC8C-30C474D96D5F}"/>
              </a:ext>
            </a:extLst>
          </p:cNvPr>
          <p:cNvSpPr>
            <a:spLocks noGrp="1"/>
          </p:cNvSpPr>
          <p:nvPr>
            <p:ph idx="1"/>
          </p:nvPr>
        </p:nvSpPr>
        <p:spPr>
          <a:xfrm>
            <a:off x="1149531" y="1825625"/>
            <a:ext cx="10067110" cy="4351338"/>
          </a:xfrm>
        </p:spPr>
        <p:txBody>
          <a:bodyPr>
            <a:normAutofit/>
          </a:bodyPr>
          <a:lstStyle/>
          <a:p>
            <a:r>
              <a:rPr lang="en-US" sz="2000" b="1" dirty="0">
                <a:latin typeface="Times New Roman" panose="02020603050405020304" pitchFamily="18" charset="0"/>
                <a:cs typeface="Times New Roman" panose="02020603050405020304" pitchFamily="18" charset="0"/>
              </a:rPr>
              <a:t>Enterprise SOC Automation:</a:t>
            </a:r>
            <a:r>
              <a:rPr lang="en-US" sz="2000" dirty="0">
                <a:latin typeface="Times New Roman" panose="02020603050405020304" pitchFamily="18" charset="0"/>
                <a:cs typeface="Times New Roman" panose="02020603050405020304" pitchFamily="18" charset="0"/>
              </a:rPr>
              <a:t> Detect and respond to privilege escalation attempts across multiple endpoints.</a:t>
            </a:r>
          </a:p>
          <a:p>
            <a:r>
              <a:rPr lang="en-US" sz="2000" b="1" dirty="0">
                <a:latin typeface="Times New Roman" panose="02020603050405020304" pitchFamily="18" charset="0"/>
                <a:cs typeface="Times New Roman" panose="02020603050405020304" pitchFamily="18" charset="0"/>
              </a:rPr>
              <a:t>Healthcare Compliance:</a:t>
            </a:r>
            <a:r>
              <a:rPr lang="en-US" sz="2000" dirty="0">
                <a:latin typeface="Times New Roman" panose="02020603050405020304" pitchFamily="18" charset="0"/>
                <a:cs typeface="Times New Roman" panose="02020603050405020304" pitchFamily="18" charset="0"/>
              </a:rPr>
              <a:t> Monitor patient data access and automate alerts for HIPAA violations.</a:t>
            </a:r>
          </a:p>
          <a:p>
            <a:r>
              <a:rPr lang="en-US" sz="2000" b="1" dirty="0">
                <a:latin typeface="Times New Roman" panose="02020603050405020304" pitchFamily="18" charset="0"/>
                <a:cs typeface="Times New Roman" panose="02020603050405020304" pitchFamily="18" charset="0"/>
              </a:rPr>
              <a:t>E-Commerce Security:</a:t>
            </a:r>
            <a:r>
              <a:rPr lang="en-US" sz="2000" dirty="0">
                <a:latin typeface="Times New Roman" panose="02020603050405020304" pitchFamily="18" charset="0"/>
                <a:cs typeface="Times New Roman" panose="02020603050405020304" pitchFamily="18" charset="0"/>
              </a:rPr>
              <a:t> Block phishing domains and notify users of suspicious login attempts.</a:t>
            </a:r>
          </a:p>
          <a:p>
            <a:r>
              <a:rPr lang="en-US" sz="2000" b="1" dirty="0">
                <a:latin typeface="Times New Roman" panose="02020603050405020304" pitchFamily="18" charset="0"/>
                <a:cs typeface="Times New Roman" panose="02020603050405020304" pitchFamily="18" charset="0"/>
              </a:rPr>
              <a:t>Cloud Infrastructure Monitoring:</a:t>
            </a:r>
            <a:r>
              <a:rPr lang="en-US" sz="2000" dirty="0">
                <a:latin typeface="Times New Roman" panose="02020603050405020304" pitchFamily="18" charset="0"/>
                <a:cs typeface="Times New Roman" panose="02020603050405020304" pitchFamily="18" charset="0"/>
              </a:rPr>
              <a:t> Identify unauthorized access and quarantine affected cloud nodes.</a:t>
            </a:r>
          </a:p>
          <a:p>
            <a:r>
              <a:rPr lang="en-US" sz="2000" b="1" dirty="0">
                <a:latin typeface="Times New Roman" panose="02020603050405020304" pitchFamily="18" charset="0"/>
                <a:cs typeface="Times New Roman" panose="02020603050405020304" pitchFamily="18" charset="0"/>
              </a:rPr>
              <a:t>Educational Institutions:</a:t>
            </a:r>
            <a:r>
              <a:rPr lang="en-US" sz="2000" dirty="0">
                <a:latin typeface="Times New Roman" panose="02020603050405020304" pitchFamily="18" charset="0"/>
                <a:cs typeface="Times New Roman" panose="02020603050405020304" pitchFamily="18" charset="0"/>
              </a:rPr>
              <a:t> Track student device activity and respond to malware infections in real time.</a:t>
            </a:r>
          </a:p>
          <a:p>
            <a:endParaRPr lang="en-IN" dirty="0"/>
          </a:p>
        </p:txBody>
      </p:sp>
    </p:spTree>
    <p:extLst>
      <p:ext uri="{BB962C8B-B14F-4D97-AF65-F5344CB8AC3E}">
        <p14:creationId xmlns:p14="http://schemas.microsoft.com/office/powerpoint/2010/main" val="3021051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D88C-6DA2-B99E-B78D-0E2EDFEEB65D}"/>
              </a:ext>
            </a:extLst>
          </p:cNvPr>
          <p:cNvSpPr>
            <a:spLocks noGrp="1"/>
          </p:cNvSpPr>
          <p:nvPr>
            <p:ph type="title"/>
          </p:nvPr>
        </p:nvSpPr>
        <p:spPr>
          <a:xfrm>
            <a:off x="1029296" y="687343"/>
            <a:ext cx="10324503" cy="1325563"/>
          </a:xfrm>
        </p:spPr>
        <p:txBody>
          <a:bodyPr/>
          <a:lstStyle/>
          <a:p>
            <a:r>
              <a:rPr lang="en-IN" b="1" dirty="0">
                <a:latin typeface="Times New Roman" panose="02020603050405020304" pitchFamily="18" charset="0"/>
                <a:cs typeface="Times New Roman" panose="02020603050405020304" pitchFamily="18" charset="0"/>
              </a:rPr>
              <a:t>System Architecture:</a:t>
            </a:r>
          </a:p>
        </p:txBody>
      </p:sp>
      <p:sp>
        <p:nvSpPr>
          <p:cNvPr id="7" name="Rectangle 3">
            <a:extLst>
              <a:ext uri="{FF2B5EF4-FFF2-40B4-BE49-F238E27FC236}">
                <a16:creationId xmlns:a16="http://schemas.microsoft.com/office/drawing/2014/main" id="{83E2E7CB-E654-DFAF-30B4-5BE71F77FECA}"/>
              </a:ext>
            </a:extLst>
          </p:cNvPr>
          <p:cNvSpPr>
            <a:spLocks noGrp="1" noChangeArrowheads="1"/>
          </p:cNvSpPr>
          <p:nvPr>
            <p:ph idx="1"/>
          </p:nvPr>
        </p:nvSpPr>
        <p:spPr bwMode="auto">
          <a:xfrm>
            <a:off x="1029297" y="2361240"/>
            <a:ext cx="1023088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Endpoints: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Windows/Linux/macOS systems with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agents installed.</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Central server for log collection, rule-based analysis</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alert generation.</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Shuffle SOAR: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Docker-based automation engine executing playbooks triggered by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alerts.</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OpenSearch for real-time visualization and alert tracking.</a:t>
            </a:r>
          </a:p>
          <a:p>
            <a:pPr marR="0" lvl="0"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 Analyst: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Monitors dashboard, validates alerts and oversees automated responses.</a:t>
            </a:r>
          </a:p>
        </p:txBody>
      </p:sp>
    </p:spTree>
    <p:extLst>
      <p:ext uri="{BB962C8B-B14F-4D97-AF65-F5344CB8AC3E}">
        <p14:creationId xmlns:p14="http://schemas.microsoft.com/office/powerpoint/2010/main" val="1332687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81CB-218F-405C-670C-A96D9D606E7B}"/>
              </a:ext>
            </a:extLst>
          </p:cNvPr>
          <p:cNvSpPr>
            <a:spLocks noGrp="1"/>
          </p:cNvSpPr>
          <p:nvPr>
            <p:ph type="title"/>
          </p:nvPr>
        </p:nvSpPr>
        <p:spPr>
          <a:xfrm>
            <a:off x="1132114" y="1026977"/>
            <a:ext cx="10273937" cy="1325563"/>
          </a:xfrm>
        </p:spPr>
        <p:txBody>
          <a:bodyPr/>
          <a:lstStyle/>
          <a:p>
            <a:r>
              <a:rPr lang="en-US" b="1" dirty="0">
                <a:latin typeface="Times New Roman" panose="02020603050405020304" pitchFamily="18" charset="0"/>
                <a:cs typeface="Times New Roman" panose="02020603050405020304" pitchFamily="18" charset="0"/>
              </a:rPr>
              <a:t>MODULE 1: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AGENT DEPLOYMENT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724A35-9B03-03FC-EA97-6C1291DA32C1}"/>
              </a:ext>
            </a:extLst>
          </p:cNvPr>
          <p:cNvSpPr>
            <a:spLocks noGrp="1"/>
          </p:cNvSpPr>
          <p:nvPr>
            <p:ph idx="1"/>
          </p:nvPr>
        </p:nvSpPr>
        <p:spPr>
          <a:xfrm>
            <a:off x="1040674" y="3030086"/>
            <a:ext cx="10110652" cy="2256016"/>
          </a:xfrm>
        </p:spPr>
        <p:txBody>
          <a:bodyPr>
            <a:normAutofit/>
          </a:bodyPr>
          <a:lstStyle/>
          <a:p>
            <a:r>
              <a:rPr lang="en-IN" sz="2000" dirty="0">
                <a:latin typeface="+mj-lt"/>
              </a:rPr>
              <a:t>I</a:t>
            </a:r>
            <a:r>
              <a:rPr lang="en-IN" sz="2000" dirty="0">
                <a:latin typeface="Times New Roman" panose="02020603050405020304" pitchFamily="18" charset="0"/>
                <a:cs typeface="Times New Roman" panose="02020603050405020304" pitchFamily="18" charset="0"/>
              </a:rPr>
              <a:t>nstall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agents on endpoints (Windows/Linux/macOS) to collect logs and monitor system activity. </a:t>
            </a:r>
          </a:p>
          <a:p>
            <a:r>
              <a:rPr lang="en-IN" sz="2000" dirty="0">
                <a:latin typeface="Times New Roman" panose="02020603050405020304" pitchFamily="18" charset="0"/>
                <a:cs typeface="Times New Roman" panose="02020603050405020304" pitchFamily="18" charset="0"/>
              </a:rPr>
              <a:t>Configure agents to communicate with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Manager securely.</a:t>
            </a:r>
          </a:p>
          <a:p>
            <a:r>
              <a:rPr lang="en-IN" sz="2000" dirty="0">
                <a:latin typeface="Times New Roman" panose="02020603050405020304" pitchFamily="18" charset="0"/>
                <a:cs typeface="Times New Roman" panose="02020603050405020304" pitchFamily="18" charset="0"/>
              </a:rPr>
              <a:t>Ensure coverage across critical infrastructure: servers, user systems, cloud nodes</a:t>
            </a:r>
          </a:p>
          <a:p>
            <a:endParaRPr lang="en-IN" sz="2000" dirty="0"/>
          </a:p>
        </p:txBody>
      </p:sp>
    </p:spTree>
    <p:extLst>
      <p:ext uri="{BB962C8B-B14F-4D97-AF65-F5344CB8AC3E}">
        <p14:creationId xmlns:p14="http://schemas.microsoft.com/office/powerpoint/2010/main" val="388359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B45E5E-55B8-D8D5-3AA6-2B9FCCF4DA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349" y="223210"/>
            <a:ext cx="10755086" cy="6411580"/>
          </a:xfrm>
          <a:prstGeom prst="rect">
            <a:avLst/>
          </a:prstGeom>
        </p:spPr>
      </p:pic>
    </p:spTree>
    <p:extLst>
      <p:ext uri="{BB962C8B-B14F-4D97-AF65-F5344CB8AC3E}">
        <p14:creationId xmlns:p14="http://schemas.microsoft.com/office/powerpoint/2010/main" val="1191149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B5D2-A1CA-F714-69E9-A5F762B78C79}"/>
              </a:ext>
            </a:extLst>
          </p:cNvPr>
          <p:cNvSpPr>
            <a:spLocks noGrp="1"/>
          </p:cNvSpPr>
          <p:nvPr>
            <p:ph type="title"/>
          </p:nvPr>
        </p:nvSpPr>
        <p:spPr>
          <a:xfrm>
            <a:off x="1045028" y="1131479"/>
            <a:ext cx="10247812" cy="1325563"/>
          </a:xfrm>
        </p:spPr>
        <p:txBody>
          <a:bodyPr>
            <a:normAutofit fontScale="90000"/>
          </a:bodyPr>
          <a:lstStyle/>
          <a:p>
            <a:r>
              <a:rPr lang="en-US" b="1" dirty="0">
                <a:latin typeface="Times New Roman" panose="02020603050405020304" pitchFamily="18" charset="0"/>
                <a:cs typeface="Times New Roman" panose="02020603050405020304" pitchFamily="18" charset="0"/>
              </a:rPr>
              <a:t>MODULE 2: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WAZUH MANAGER CONFIGURATION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6CBB3-C11F-3167-34F7-E4F65B013B63}"/>
              </a:ext>
            </a:extLst>
          </p:cNvPr>
          <p:cNvSpPr>
            <a:spLocks noGrp="1"/>
          </p:cNvSpPr>
          <p:nvPr>
            <p:ph idx="1"/>
          </p:nvPr>
        </p:nvSpPr>
        <p:spPr>
          <a:xfrm>
            <a:off x="1045028" y="3262539"/>
            <a:ext cx="10247811" cy="1603375"/>
          </a:xfrm>
        </p:spPr>
        <p:txBody>
          <a:bodyPr>
            <a:normAutofit/>
          </a:bodyPr>
          <a:lstStyle/>
          <a:p>
            <a:r>
              <a:rPr lang="en-IN" sz="2000" dirty="0">
                <a:latin typeface="Times New Roman" panose="02020603050405020304" pitchFamily="18" charset="0"/>
                <a:cs typeface="Times New Roman" panose="02020603050405020304" pitchFamily="18" charset="0"/>
              </a:rPr>
              <a:t>Set up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Manager on a Linux server (Ubuntu recommended). </a:t>
            </a:r>
          </a:p>
          <a:p>
            <a:r>
              <a:rPr lang="en-IN" sz="2000" dirty="0">
                <a:latin typeface="Times New Roman" panose="02020603050405020304" pitchFamily="18" charset="0"/>
                <a:cs typeface="Times New Roman" panose="02020603050405020304" pitchFamily="18" charset="0"/>
              </a:rPr>
              <a:t>Enable modules for log analysis, file integrity monitoring, vulnerability detection.</a:t>
            </a:r>
          </a:p>
          <a:p>
            <a:r>
              <a:rPr lang="en-IN" sz="2000" dirty="0">
                <a:latin typeface="Times New Roman" panose="02020603050405020304" pitchFamily="18" charset="0"/>
                <a:cs typeface="Times New Roman" panose="02020603050405020304" pitchFamily="18" charset="0"/>
              </a:rPr>
              <a:t>Configure rules and decoders to detect phishing, DoS and privilege escalation attempts.</a:t>
            </a:r>
          </a:p>
          <a:p>
            <a:endParaRPr lang="en-IN" sz="2000" dirty="0"/>
          </a:p>
          <a:p>
            <a:endParaRPr lang="en-IN" sz="2000" dirty="0"/>
          </a:p>
        </p:txBody>
      </p:sp>
    </p:spTree>
    <p:extLst>
      <p:ext uri="{BB962C8B-B14F-4D97-AF65-F5344CB8AC3E}">
        <p14:creationId xmlns:p14="http://schemas.microsoft.com/office/powerpoint/2010/main" val="189322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797B06-D5C3-DAE6-FF89-7E06EAC47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023" y="0"/>
            <a:ext cx="10441578"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942B702-AE90-1E0B-1937-0EB9AE1B9390}"/>
                  </a:ext>
                </a:extLst>
              </p14:cNvPr>
              <p14:cNvContentPartPr/>
              <p14:nvPr/>
            </p14:nvContentPartPr>
            <p14:xfrm>
              <a:off x="9191211" y="-41280"/>
              <a:ext cx="963360" cy="730440"/>
            </p14:xfrm>
          </p:contentPart>
        </mc:Choice>
        <mc:Fallback xmlns="">
          <p:pic>
            <p:nvPicPr>
              <p:cNvPr id="2" name="Ink 1">
                <a:extLst>
                  <a:ext uri="{FF2B5EF4-FFF2-40B4-BE49-F238E27FC236}">
                    <a16:creationId xmlns:a16="http://schemas.microsoft.com/office/drawing/2014/main" id="{D942B702-AE90-1E0B-1937-0EB9AE1B9390}"/>
                  </a:ext>
                </a:extLst>
              </p:cNvPr>
              <p:cNvPicPr/>
              <p:nvPr/>
            </p:nvPicPr>
            <p:blipFill>
              <a:blip r:embed="rId4"/>
              <a:stretch>
                <a:fillRect/>
              </a:stretch>
            </p:blipFill>
            <p:spPr>
              <a:xfrm>
                <a:off x="9128211" y="-103920"/>
                <a:ext cx="1089000" cy="856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22C2B88-AB0C-DCFA-D794-B620167F6FA0}"/>
                  </a:ext>
                </a:extLst>
              </p14:cNvPr>
              <p14:cNvContentPartPr/>
              <p14:nvPr/>
            </p14:nvContentPartPr>
            <p14:xfrm>
              <a:off x="8960451" y="189634"/>
              <a:ext cx="2712960" cy="1244880"/>
            </p14:xfrm>
          </p:contentPart>
        </mc:Choice>
        <mc:Fallback xmlns="">
          <p:pic>
            <p:nvPicPr>
              <p:cNvPr id="4" name="Ink 3">
                <a:extLst>
                  <a:ext uri="{FF2B5EF4-FFF2-40B4-BE49-F238E27FC236}">
                    <a16:creationId xmlns:a16="http://schemas.microsoft.com/office/drawing/2014/main" id="{322C2B88-AB0C-DCFA-D794-B620167F6FA0}"/>
                  </a:ext>
                </a:extLst>
              </p:cNvPr>
              <p:cNvPicPr/>
              <p:nvPr/>
            </p:nvPicPr>
            <p:blipFill>
              <a:blip r:embed="rId6"/>
              <a:stretch>
                <a:fillRect/>
              </a:stretch>
            </p:blipFill>
            <p:spPr>
              <a:xfrm>
                <a:off x="8897811" y="126634"/>
                <a:ext cx="2838600" cy="1370520"/>
              </a:xfrm>
              <a:prstGeom prst="rect">
                <a:avLst/>
              </a:prstGeom>
            </p:spPr>
          </p:pic>
        </mc:Fallback>
      </mc:AlternateContent>
    </p:spTree>
    <p:extLst>
      <p:ext uri="{BB962C8B-B14F-4D97-AF65-F5344CB8AC3E}">
        <p14:creationId xmlns:p14="http://schemas.microsoft.com/office/powerpoint/2010/main" val="4100224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5C01-EE88-1BE9-7CF1-F8AA98D20972}"/>
              </a:ext>
            </a:extLst>
          </p:cNvPr>
          <p:cNvSpPr>
            <a:spLocks noGrp="1"/>
          </p:cNvSpPr>
          <p:nvPr>
            <p:ph type="title"/>
          </p:nvPr>
        </p:nvSpPr>
        <p:spPr>
          <a:xfrm>
            <a:off x="1071153" y="1009559"/>
            <a:ext cx="10282647" cy="1325563"/>
          </a:xfrm>
        </p:spPr>
        <p:txBody>
          <a:bodyPr/>
          <a:lstStyle/>
          <a:p>
            <a:r>
              <a:rPr lang="en-IN" b="1" dirty="0">
                <a:latin typeface="Times New Roman" panose="02020603050405020304" pitchFamily="18" charset="0"/>
                <a:cs typeface="Times New Roman" panose="02020603050405020304" pitchFamily="18" charset="0"/>
              </a:rPr>
              <a:t>MODULE 3: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SHUFFLE SOAR INTEGRATION</a:t>
            </a:r>
          </a:p>
        </p:txBody>
      </p:sp>
      <p:sp>
        <p:nvSpPr>
          <p:cNvPr id="3" name="Content Placeholder 2">
            <a:extLst>
              <a:ext uri="{FF2B5EF4-FFF2-40B4-BE49-F238E27FC236}">
                <a16:creationId xmlns:a16="http://schemas.microsoft.com/office/drawing/2014/main" id="{39E4FC94-C91D-2617-C4BC-69F96282844F}"/>
              </a:ext>
            </a:extLst>
          </p:cNvPr>
          <p:cNvSpPr>
            <a:spLocks noGrp="1"/>
          </p:cNvSpPr>
          <p:nvPr>
            <p:ph idx="1"/>
          </p:nvPr>
        </p:nvSpPr>
        <p:spPr>
          <a:xfrm>
            <a:off x="1071154" y="2966448"/>
            <a:ext cx="10282646" cy="1901644"/>
          </a:xfrm>
        </p:spPr>
        <p:txBody>
          <a:bodyPr>
            <a:normAutofit/>
          </a:bodyPr>
          <a:lstStyle/>
          <a:p>
            <a:r>
              <a:rPr lang="en-US" sz="2000" dirty="0">
                <a:latin typeface="Times New Roman" panose="02020603050405020304" pitchFamily="18" charset="0"/>
                <a:cs typeface="Times New Roman" panose="02020603050405020304" pitchFamily="18" charset="0"/>
              </a:rPr>
              <a:t>Deploy Shuffle using Docker and connect it to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via API. </a:t>
            </a:r>
          </a:p>
          <a:p>
            <a:r>
              <a:rPr lang="en-US" sz="2000" dirty="0">
                <a:latin typeface="Times New Roman" panose="02020603050405020304" pitchFamily="18" charset="0"/>
                <a:cs typeface="Times New Roman" panose="02020603050405020304" pitchFamily="18" charset="0"/>
              </a:rPr>
              <a:t>Create playbooks that automate responses: isolate host, send alerts, escalate tickets.</a:t>
            </a:r>
          </a:p>
          <a:p>
            <a:r>
              <a:rPr lang="en-US" sz="2000" dirty="0">
                <a:latin typeface="Times New Roman" panose="02020603050405020304" pitchFamily="18" charset="0"/>
                <a:cs typeface="Times New Roman" panose="02020603050405020304" pitchFamily="18" charset="0"/>
              </a:rPr>
              <a:t>Test workflows with simulated threat alerts to validate automation.</a:t>
            </a:r>
          </a:p>
          <a:p>
            <a:endParaRPr lang="en-IN" sz="2000" dirty="0"/>
          </a:p>
        </p:txBody>
      </p:sp>
    </p:spTree>
    <p:extLst>
      <p:ext uri="{BB962C8B-B14F-4D97-AF65-F5344CB8AC3E}">
        <p14:creationId xmlns:p14="http://schemas.microsoft.com/office/powerpoint/2010/main" val="368688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67D901-6873-30B9-A4C8-1E672D1D1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777" y="470263"/>
            <a:ext cx="10241280" cy="6115460"/>
          </a:xfrm>
          <a:prstGeom prst="rect">
            <a:avLst/>
          </a:prstGeom>
        </p:spPr>
      </p:pic>
    </p:spTree>
    <p:extLst>
      <p:ext uri="{BB962C8B-B14F-4D97-AF65-F5344CB8AC3E}">
        <p14:creationId xmlns:p14="http://schemas.microsoft.com/office/powerpoint/2010/main" val="160804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EC24-9A62-CF21-F116-972FA358D436}"/>
              </a:ext>
            </a:extLst>
          </p:cNvPr>
          <p:cNvSpPr>
            <a:spLocks noGrp="1"/>
          </p:cNvSpPr>
          <p:nvPr>
            <p:ph type="title"/>
          </p:nvPr>
        </p:nvSpPr>
        <p:spPr>
          <a:xfrm>
            <a:off x="1053736" y="1183731"/>
            <a:ext cx="10300064" cy="1325563"/>
          </a:xfrm>
        </p:spPr>
        <p:txBody>
          <a:bodyPr>
            <a:normAutofit fontScale="90000"/>
          </a:bodyPr>
          <a:lstStyle/>
          <a:p>
            <a:r>
              <a:rPr lang="en-US" b="1" dirty="0">
                <a:latin typeface="Times New Roman" panose="02020603050405020304" pitchFamily="18" charset="0"/>
                <a:cs typeface="Times New Roman" panose="02020603050405020304" pitchFamily="18" charset="0"/>
              </a:rPr>
              <a:t>MODULE 4: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CENTRALIZED DASHBOARD &amp; ALERTING</a:t>
            </a:r>
            <a:br>
              <a:rPr lang="en-US" b="1" dirty="0"/>
            </a:br>
            <a:endParaRPr lang="en-IN" dirty="0"/>
          </a:p>
        </p:txBody>
      </p:sp>
      <p:sp>
        <p:nvSpPr>
          <p:cNvPr id="3" name="Content Placeholder 2">
            <a:extLst>
              <a:ext uri="{FF2B5EF4-FFF2-40B4-BE49-F238E27FC236}">
                <a16:creationId xmlns:a16="http://schemas.microsoft.com/office/drawing/2014/main" id="{AAE02646-8FE5-C19E-1F37-EB37FD6C0854}"/>
              </a:ext>
            </a:extLst>
          </p:cNvPr>
          <p:cNvSpPr>
            <a:spLocks noGrp="1"/>
          </p:cNvSpPr>
          <p:nvPr>
            <p:ph idx="1"/>
          </p:nvPr>
        </p:nvSpPr>
        <p:spPr>
          <a:xfrm>
            <a:off x="1053736" y="3151188"/>
            <a:ext cx="10300063" cy="2154192"/>
          </a:xfrm>
        </p:spPr>
        <p:txBody>
          <a:bodyPr/>
          <a:lstStyle/>
          <a:p>
            <a:r>
              <a:rPr lang="en-US" sz="2000" dirty="0">
                <a:latin typeface="Times New Roman" panose="02020603050405020304" pitchFamily="18" charset="0"/>
                <a:cs typeface="Times New Roman" panose="02020603050405020304" pitchFamily="18" charset="0"/>
              </a:rPr>
              <a:t>Integrate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with Kibana or OpenSearch for real-time visualization.</a:t>
            </a:r>
          </a:p>
          <a:p>
            <a:r>
              <a:rPr lang="en-US" sz="2000" dirty="0">
                <a:latin typeface="Times New Roman" panose="02020603050405020304" pitchFamily="18" charset="0"/>
                <a:cs typeface="Times New Roman" panose="02020603050405020304" pitchFamily="18" charset="0"/>
              </a:rPr>
              <a:t>Display threat trends, alert severity and response actions on a unified dashboard. </a:t>
            </a:r>
          </a:p>
          <a:p>
            <a:r>
              <a:rPr lang="en-US" sz="2000" dirty="0">
                <a:latin typeface="Times New Roman" panose="02020603050405020304" pitchFamily="18" charset="0"/>
                <a:cs typeface="Times New Roman" panose="02020603050405020304" pitchFamily="18" charset="0"/>
              </a:rPr>
              <a:t>Enable email/SMS notifications for critical alerts.</a:t>
            </a:r>
          </a:p>
          <a:p>
            <a:endParaRPr lang="en-IN" dirty="0"/>
          </a:p>
        </p:txBody>
      </p:sp>
    </p:spTree>
    <p:extLst>
      <p:ext uri="{BB962C8B-B14F-4D97-AF65-F5344CB8AC3E}">
        <p14:creationId xmlns:p14="http://schemas.microsoft.com/office/powerpoint/2010/main" val="1361212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68375C-798F-0E7C-B40A-A0C173FBB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360" y="426720"/>
            <a:ext cx="10441577" cy="5817326"/>
          </a:xfrm>
          <a:prstGeom prst="rect">
            <a:avLst/>
          </a:prstGeom>
        </p:spPr>
      </p:pic>
    </p:spTree>
    <p:extLst>
      <p:ext uri="{BB962C8B-B14F-4D97-AF65-F5344CB8AC3E}">
        <p14:creationId xmlns:p14="http://schemas.microsoft.com/office/powerpoint/2010/main" val="2256420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6108-760B-5C44-26A4-1B0F22BAD1AA}"/>
              </a:ext>
            </a:extLst>
          </p:cNvPr>
          <p:cNvSpPr>
            <a:spLocks noGrp="1"/>
          </p:cNvSpPr>
          <p:nvPr>
            <p:ph type="title"/>
          </p:nvPr>
        </p:nvSpPr>
        <p:spPr>
          <a:xfrm>
            <a:off x="1140821" y="979715"/>
            <a:ext cx="10212977" cy="1325563"/>
          </a:xfrm>
        </p:spPr>
        <p:txBody>
          <a:bodyPr/>
          <a:lstStyle/>
          <a:p>
            <a:r>
              <a:rPr lang="en-US" b="1" dirty="0">
                <a:latin typeface="Times New Roman" panose="02020603050405020304" pitchFamily="18" charset="0"/>
                <a:cs typeface="Times New Roman" panose="02020603050405020304" pitchFamily="18" charset="0"/>
              </a:rPr>
              <a:t>MODULE 5: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INCIDENT RESPONSE WORKFLOWS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E2E823-8CA2-18CE-2319-D25EB3675AAA}"/>
              </a:ext>
            </a:extLst>
          </p:cNvPr>
          <p:cNvSpPr>
            <a:spLocks noGrp="1"/>
          </p:cNvSpPr>
          <p:nvPr>
            <p:ph idx="1"/>
          </p:nvPr>
        </p:nvSpPr>
        <p:spPr>
          <a:xfrm>
            <a:off x="1140821" y="2914196"/>
            <a:ext cx="10212978" cy="2964089"/>
          </a:xfrm>
        </p:spPr>
        <p:txBody>
          <a:bodyPr>
            <a:normAutofit/>
          </a:bodyPr>
          <a:lstStyle/>
          <a:p>
            <a:r>
              <a:rPr lang="en-IN" sz="2000" dirty="0">
                <a:latin typeface="Times New Roman" panose="02020603050405020304" pitchFamily="18" charset="0"/>
                <a:cs typeface="Times New Roman" panose="02020603050405020304" pitchFamily="18" charset="0"/>
              </a:rPr>
              <a:t>Design Shuffle playbooks for specific threats: </a:t>
            </a:r>
          </a:p>
          <a:p>
            <a:pPr marL="0" indent="0">
              <a:buNone/>
            </a:pPr>
            <a:r>
              <a:rPr lang="en-IN" sz="2000" b="1" dirty="0">
                <a:latin typeface="Times New Roman" panose="02020603050405020304" pitchFamily="18" charset="0"/>
                <a:cs typeface="Times New Roman" panose="02020603050405020304" pitchFamily="18" charset="0"/>
              </a:rPr>
              <a:t>	Phishing</a:t>
            </a:r>
            <a:r>
              <a:rPr lang="en-IN" sz="2000" dirty="0">
                <a:latin typeface="Times New Roman" panose="02020603050405020304" pitchFamily="18" charset="0"/>
                <a:cs typeface="Times New Roman" panose="02020603050405020304" pitchFamily="18" charset="0"/>
              </a:rPr>
              <a:t>: Notify user, block domain, log incident. </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DoS</a:t>
            </a:r>
            <a:r>
              <a:rPr lang="en-IN" sz="2000" dirty="0">
                <a:latin typeface="Times New Roman" panose="02020603050405020304" pitchFamily="18" charset="0"/>
                <a:cs typeface="Times New Roman" panose="02020603050405020304" pitchFamily="18" charset="0"/>
              </a:rPr>
              <a:t>: Quarantine IP, alert SOC, update firewall rules.</a:t>
            </a:r>
          </a:p>
          <a:p>
            <a:r>
              <a:rPr lang="en-IN" sz="2000" dirty="0">
                <a:latin typeface="Times New Roman" panose="02020603050405020304" pitchFamily="18" charset="0"/>
                <a:cs typeface="Times New Roman" panose="02020603050405020304" pitchFamily="18" charset="0"/>
              </a:rPr>
              <a:t>Use conditional logic and branching to handle complex scenarios.</a:t>
            </a:r>
          </a:p>
        </p:txBody>
      </p:sp>
    </p:spTree>
    <p:extLst>
      <p:ext uri="{BB962C8B-B14F-4D97-AF65-F5344CB8AC3E}">
        <p14:creationId xmlns:p14="http://schemas.microsoft.com/office/powerpoint/2010/main" val="396402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DD2E3B-213C-0104-E51C-C2CDB31022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1486" y="653143"/>
            <a:ext cx="10302240" cy="5651863"/>
          </a:xfrm>
          <a:prstGeom prst="rect">
            <a:avLst/>
          </a:prstGeom>
        </p:spPr>
      </p:pic>
    </p:spTree>
    <p:extLst>
      <p:ext uri="{BB962C8B-B14F-4D97-AF65-F5344CB8AC3E}">
        <p14:creationId xmlns:p14="http://schemas.microsoft.com/office/powerpoint/2010/main" val="342883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F1948-13CB-2B26-4A75-54212909197D}"/>
              </a:ext>
            </a:extLst>
          </p:cNvPr>
          <p:cNvSpPr>
            <a:spLocks noGrp="1"/>
          </p:cNvSpPr>
          <p:nvPr>
            <p:ph type="title"/>
          </p:nvPr>
        </p:nvSpPr>
        <p:spPr>
          <a:xfrm>
            <a:off x="994955" y="896348"/>
            <a:ext cx="10271760" cy="1325563"/>
          </a:xfrm>
        </p:spPr>
        <p:txBody>
          <a:bodyPr/>
          <a:lstStyle/>
          <a:p>
            <a:r>
              <a:rPr lang="en-IN" b="1" dirty="0">
                <a:latin typeface="Times New Roman" panose="02020603050405020304" pitchFamily="18" charset="0"/>
                <a:cs typeface="Times New Roman" panose="02020603050405020304" pitchFamily="18" charset="0"/>
              </a:rPr>
              <a:t>MODULE 6: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COMPLIANCE &amp; SCALABILITY</a:t>
            </a:r>
          </a:p>
        </p:txBody>
      </p:sp>
      <p:sp>
        <p:nvSpPr>
          <p:cNvPr id="3" name="Content Placeholder 2">
            <a:extLst>
              <a:ext uri="{FF2B5EF4-FFF2-40B4-BE49-F238E27FC236}">
                <a16:creationId xmlns:a16="http://schemas.microsoft.com/office/drawing/2014/main" id="{3B7F21C7-3F2F-04E1-AD8D-18D64200D031}"/>
              </a:ext>
            </a:extLst>
          </p:cNvPr>
          <p:cNvSpPr>
            <a:spLocks noGrp="1"/>
          </p:cNvSpPr>
          <p:nvPr>
            <p:ph idx="1"/>
          </p:nvPr>
        </p:nvSpPr>
        <p:spPr>
          <a:xfrm>
            <a:off x="994955" y="2941320"/>
            <a:ext cx="10515600" cy="2023564"/>
          </a:xfrm>
        </p:spPr>
        <p:txBody>
          <a:bodyPr/>
          <a:lstStyle/>
          <a:p>
            <a:r>
              <a:rPr lang="en-US" sz="2000" dirty="0">
                <a:latin typeface="Times New Roman" panose="02020603050405020304" pitchFamily="18" charset="0"/>
                <a:cs typeface="Times New Roman" panose="02020603050405020304" pitchFamily="18" charset="0"/>
              </a:rPr>
              <a:t>Align system with standards like ISO 27001, HIPAA, GDPR.</a:t>
            </a:r>
          </a:p>
          <a:p>
            <a:r>
              <a:rPr lang="en-US" sz="2000" dirty="0">
                <a:latin typeface="Times New Roman" panose="02020603050405020304" pitchFamily="18" charset="0"/>
                <a:cs typeface="Times New Roman" panose="02020603050405020304" pitchFamily="18" charset="0"/>
              </a:rPr>
              <a:t>Ensure log retention policies and access controls are enforced.</a:t>
            </a:r>
          </a:p>
          <a:p>
            <a:r>
              <a:rPr lang="en-US" sz="2000" dirty="0">
                <a:latin typeface="Times New Roman" panose="02020603050405020304" pitchFamily="18" charset="0"/>
                <a:cs typeface="Times New Roman" panose="02020603050405020304" pitchFamily="18" charset="0"/>
              </a:rPr>
              <a:t>Design architecture to scale with enterprise growth and agent expansion.</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23516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D3E6FF-C36D-E6E3-9735-428E5AA8C5D3}"/>
              </a:ext>
            </a:extLst>
          </p:cNvPr>
          <p:cNvSpPr>
            <a:spLocks noGrp="1"/>
          </p:cNvSpPr>
          <p:nvPr>
            <p:ph type="title"/>
          </p:nvPr>
        </p:nvSpPr>
        <p:spPr>
          <a:xfrm>
            <a:off x="1097280" y="959317"/>
            <a:ext cx="10256520" cy="1325563"/>
          </a:xfrm>
        </p:spPr>
        <p:txBody>
          <a:bodyPr/>
          <a:lstStyle/>
          <a:p>
            <a:r>
              <a:rPr lang="en-IN" b="1" dirty="0">
                <a:latin typeface="Times New Roman" panose="02020603050405020304" pitchFamily="18" charset="0"/>
                <a:cs typeface="Times New Roman" panose="02020603050405020304" pitchFamily="18" charset="0"/>
              </a:rPr>
              <a:t>Performance Evaluation:</a:t>
            </a:r>
          </a:p>
        </p:txBody>
      </p:sp>
      <p:sp>
        <p:nvSpPr>
          <p:cNvPr id="8" name="Rectangle 1">
            <a:extLst>
              <a:ext uri="{FF2B5EF4-FFF2-40B4-BE49-F238E27FC236}">
                <a16:creationId xmlns:a16="http://schemas.microsoft.com/office/drawing/2014/main" id="{B14D134B-DB2D-7896-E78E-EB548510E0C5}"/>
              </a:ext>
            </a:extLst>
          </p:cNvPr>
          <p:cNvSpPr>
            <a:spLocks noGrp="1" noChangeArrowheads="1"/>
          </p:cNvSpPr>
          <p:nvPr>
            <p:ph idx="1"/>
          </p:nvPr>
        </p:nvSpPr>
        <p:spPr bwMode="auto">
          <a:xfrm>
            <a:off x="1097280" y="2803848"/>
            <a:ext cx="1012806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Speed: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Threats identified within 2–5 seconds of log ingestion.</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Response 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playbooks execute within 3 seconds of alert trigger.</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Effort Reduction: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60–70% decrease in analyst workload.</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90%+ precision in rule-based threat detection.</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1000+ endpoints with consistent performance</a:t>
            </a:r>
          </a:p>
        </p:txBody>
      </p:sp>
    </p:spTree>
    <p:extLst>
      <p:ext uri="{BB962C8B-B14F-4D97-AF65-F5344CB8AC3E}">
        <p14:creationId xmlns:p14="http://schemas.microsoft.com/office/powerpoint/2010/main" val="2901063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19F780-C25C-26E8-E976-816C7A654937}"/>
              </a:ext>
            </a:extLst>
          </p:cNvPr>
          <p:cNvSpPr>
            <a:spLocks noGrp="1"/>
          </p:cNvSpPr>
          <p:nvPr>
            <p:ph type="title"/>
          </p:nvPr>
        </p:nvSpPr>
        <p:spPr>
          <a:xfrm>
            <a:off x="1153884" y="624264"/>
            <a:ext cx="10199916" cy="1325563"/>
          </a:xfrm>
        </p:spPr>
        <p:txBody>
          <a:bodyPr/>
          <a:lstStyle/>
          <a:p>
            <a:r>
              <a:rPr lang="en-IN" b="1" dirty="0">
                <a:latin typeface="Times New Roman" panose="02020603050405020304" pitchFamily="18" charset="0"/>
                <a:cs typeface="Times New Roman" panose="02020603050405020304" pitchFamily="18" charset="0"/>
              </a:rPr>
              <a:t>Challenges &amp; Solutions:</a:t>
            </a:r>
          </a:p>
        </p:txBody>
      </p:sp>
      <p:sp>
        <p:nvSpPr>
          <p:cNvPr id="5" name="Rectangle 1">
            <a:extLst>
              <a:ext uri="{FF2B5EF4-FFF2-40B4-BE49-F238E27FC236}">
                <a16:creationId xmlns:a16="http://schemas.microsoft.com/office/drawing/2014/main" id="{D5790259-9689-3559-8BE0-9F5CDC0B58D2}"/>
              </a:ext>
            </a:extLst>
          </p:cNvPr>
          <p:cNvSpPr>
            <a:spLocks noGrp="1" noChangeArrowheads="1"/>
          </p:cNvSpPr>
          <p:nvPr>
            <p:ph idx="1"/>
          </p:nvPr>
        </p:nvSpPr>
        <p:spPr bwMode="auto">
          <a:xfrm>
            <a:off x="1153884" y="2431633"/>
            <a:ext cx="992341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 API integration between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Shuffle.</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RESTful API with token-based authentication and tested with simulated alerts.</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False positives in phishing detection.</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Refined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Wazuh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rules and added domain reputation checks.</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Resource constraints on Shuffle server.</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Optimized Docker deployment and scaled RAM to 16 GB.</a:t>
            </a: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Alert overload in dashboard.</a:t>
            </a:r>
          </a:p>
          <a:p>
            <a:pPr marR="0" lvl="0" algn="l" defTabSz="914400" rtl="0" eaLnBrk="0" fontAlgn="base" latinLnBrk="0" hangingPunct="0">
              <a:lnSpc>
                <a:spcPct val="100000"/>
              </a:lnSpc>
              <a:spcBef>
                <a:spcPct val="0"/>
              </a:spcBef>
              <a:spcAft>
                <a:spcPct val="0"/>
              </a:spcAft>
              <a:buClrTx/>
              <a:buSzTx/>
              <a:tabLst/>
            </a:pP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Implemented alert prioritization and severity filters.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6582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36837-0983-3767-0735-7A06DCB38857}"/>
              </a:ext>
            </a:extLst>
          </p:cNvPr>
          <p:cNvSpPr>
            <a:spLocks noGrp="1"/>
          </p:cNvSpPr>
          <p:nvPr>
            <p:ph type="title"/>
          </p:nvPr>
        </p:nvSpPr>
        <p:spPr>
          <a:xfrm>
            <a:off x="1097280" y="426085"/>
            <a:ext cx="9962606" cy="1325563"/>
          </a:xfrm>
        </p:spPr>
        <p:txBody>
          <a:bodyPr/>
          <a:lstStyle/>
          <a:p>
            <a:r>
              <a:rPr lang="en-IN" b="1"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7F44B94D-4A9C-D174-7FD7-18624808A864}"/>
              </a:ext>
            </a:extLst>
          </p:cNvPr>
          <p:cNvSpPr>
            <a:spLocks noGrp="1"/>
          </p:cNvSpPr>
          <p:nvPr>
            <p:ph idx="1"/>
          </p:nvPr>
        </p:nvSpPr>
        <p:spPr>
          <a:xfrm>
            <a:off x="1097280" y="1825625"/>
            <a:ext cx="10256520" cy="2249986"/>
          </a:xfrm>
        </p:spPr>
        <p:txBody>
          <a:bodyPr/>
          <a:lstStyle/>
          <a:p>
            <a:r>
              <a:rPr lang="en-IN" sz="2000" dirty="0">
                <a:latin typeface="Times New Roman" panose="02020603050405020304" pitchFamily="18" charset="0"/>
                <a:cs typeface="Times New Roman" panose="02020603050405020304" pitchFamily="18" charset="0"/>
              </a:rPr>
              <a:t>Integrate machine learning models for predictive threat detection.</a:t>
            </a:r>
          </a:p>
          <a:p>
            <a:r>
              <a:rPr lang="en-IN" sz="2000" dirty="0">
                <a:latin typeface="Times New Roman" panose="02020603050405020304" pitchFamily="18" charset="0"/>
                <a:cs typeface="Times New Roman" panose="02020603050405020304" pitchFamily="18" charset="0"/>
              </a:rPr>
              <a:t>Add support for mobile device monitoring and response.</a:t>
            </a:r>
          </a:p>
          <a:p>
            <a:r>
              <a:rPr lang="en-IN" sz="2000" dirty="0">
                <a:latin typeface="Times New Roman" panose="02020603050405020304" pitchFamily="18" charset="0"/>
                <a:cs typeface="Times New Roman" panose="02020603050405020304" pitchFamily="18" charset="0"/>
              </a:rPr>
              <a:t>Enable multi-cloud compatibility (AWS, Azure, GCP).</a:t>
            </a:r>
          </a:p>
          <a:p>
            <a:r>
              <a:rPr lang="en-IN" sz="2000" dirty="0">
                <a:latin typeface="Times New Roman" panose="02020603050405020304" pitchFamily="18" charset="0"/>
                <a:cs typeface="Times New Roman" panose="02020603050405020304" pitchFamily="18" charset="0"/>
              </a:rPr>
              <a:t>Develop role-based access control for dashboard users.</a:t>
            </a:r>
          </a:p>
          <a:p>
            <a:r>
              <a:rPr lang="en-IN" sz="2000" dirty="0">
                <a:latin typeface="Times New Roman" panose="02020603050405020304" pitchFamily="18" charset="0"/>
                <a:cs typeface="Times New Roman" panose="02020603050405020304" pitchFamily="18" charset="0"/>
              </a:rPr>
              <a:t>Expand playbook library to cover insider threats and ransomware.</a:t>
            </a:r>
          </a:p>
          <a:p>
            <a:endParaRPr lang="en-IN" dirty="0"/>
          </a:p>
        </p:txBody>
      </p:sp>
    </p:spTree>
    <p:extLst>
      <p:ext uri="{BB962C8B-B14F-4D97-AF65-F5344CB8AC3E}">
        <p14:creationId xmlns:p14="http://schemas.microsoft.com/office/powerpoint/2010/main" val="4292877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0E8F-0F65-6A4F-A67A-7A04BA2A42F6}"/>
              </a:ext>
            </a:extLst>
          </p:cNvPr>
          <p:cNvSpPr>
            <a:spLocks noGrp="1"/>
          </p:cNvSpPr>
          <p:nvPr>
            <p:ph type="title"/>
          </p:nvPr>
        </p:nvSpPr>
        <p:spPr>
          <a:xfrm>
            <a:off x="1369423" y="500062"/>
            <a:ext cx="9664337" cy="1325563"/>
          </a:xfrm>
        </p:spPr>
        <p:txBody>
          <a:bodyPr/>
          <a:lstStyle/>
          <a:p>
            <a:r>
              <a:rPr lang="en-IN" b="1" dirty="0">
                <a:latin typeface="Times New Roman" panose="02020603050405020304" pitchFamily="18" charset="0"/>
                <a:cs typeface="Times New Roman" panose="02020603050405020304" pitchFamily="18" charset="0"/>
              </a:rPr>
              <a:t>Components:</a:t>
            </a:r>
          </a:p>
        </p:txBody>
      </p:sp>
      <p:sp>
        <p:nvSpPr>
          <p:cNvPr id="3" name="Content Placeholder 2">
            <a:extLst>
              <a:ext uri="{FF2B5EF4-FFF2-40B4-BE49-F238E27FC236}">
                <a16:creationId xmlns:a16="http://schemas.microsoft.com/office/drawing/2014/main" id="{62EAE76E-9EF2-88AE-3559-8C4D4125CA29}"/>
              </a:ext>
            </a:extLst>
          </p:cNvPr>
          <p:cNvSpPr>
            <a:spLocks noGrp="1"/>
          </p:cNvSpPr>
          <p:nvPr>
            <p:ph idx="1"/>
          </p:nvPr>
        </p:nvSpPr>
        <p:spPr>
          <a:xfrm>
            <a:off x="1264920" y="2139406"/>
            <a:ext cx="9315994" cy="2023564"/>
          </a:xfrm>
        </p:spPr>
        <p:txBody>
          <a:bodyPr>
            <a:normAutofit/>
          </a:bodyPr>
          <a:lstStyle/>
          <a:p>
            <a:pPr marL="0" indent="0">
              <a:buNone/>
            </a:pPr>
            <a:r>
              <a:rPr lang="en-IN" sz="2000" b="1" dirty="0" err="1">
                <a:latin typeface="Times New Roman" panose="02020603050405020304" pitchFamily="18" charset="0"/>
                <a:cs typeface="Times New Roman" panose="02020603050405020304" pitchFamily="18" charset="0"/>
              </a:rPr>
              <a:t>Softeware</a:t>
            </a:r>
            <a:r>
              <a:rPr lang="en-IN" sz="2000" b="1" dirty="0">
                <a:latin typeface="Times New Roman" panose="02020603050405020304" pitchFamily="18" charset="0"/>
                <a:cs typeface="Times New Roman" panose="02020603050405020304" pitchFamily="18" charset="0"/>
              </a:rPr>
              <a:t> Requirements</a:t>
            </a:r>
          </a:p>
          <a:p>
            <a:pPr marL="0" indent="0">
              <a:buNone/>
            </a:pPr>
            <a:r>
              <a:rPr lang="en-IN" sz="1800"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Wazuh</a:t>
            </a:r>
            <a:r>
              <a:rPr lang="en-IN" sz="1800" b="1" dirty="0">
                <a:latin typeface="Times New Roman" panose="02020603050405020304" pitchFamily="18" charset="0"/>
                <a:cs typeface="Times New Roman" panose="02020603050405020304" pitchFamily="18" charset="0"/>
              </a:rPr>
              <a:t> Manager </a:t>
            </a:r>
            <a:r>
              <a:rPr lang="en-IN" sz="1800" dirty="0">
                <a:latin typeface="Times New Roman" panose="02020603050405020304" pitchFamily="18" charset="0"/>
                <a:cs typeface="Times New Roman" panose="02020603050405020304" pitchFamily="18" charset="0"/>
              </a:rPr>
              <a:t>(Linux-based server: Ubuntu, CentOS, Debian)</a:t>
            </a:r>
          </a:p>
          <a:p>
            <a:pPr marL="0" indent="0">
              <a:buNone/>
            </a:pPr>
            <a:r>
              <a:rPr lang="en-IN" sz="1800"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Wazuh</a:t>
            </a:r>
            <a:r>
              <a:rPr lang="en-IN" sz="1800" b="1" dirty="0">
                <a:latin typeface="Times New Roman" panose="02020603050405020304" pitchFamily="18" charset="0"/>
                <a:cs typeface="Times New Roman" panose="02020603050405020304" pitchFamily="18" charset="0"/>
              </a:rPr>
              <a:t> Agents </a:t>
            </a:r>
            <a:r>
              <a:rPr lang="en-IN" sz="1800" dirty="0">
                <a:latin typeface="Times New Roman" panose="02020603050405020304" pitchFamily="18" charset="0"/>
                <a:cs typeface="Times New Roman" panose="02020603050405020304" pitchFamily="18" charset="0"/>
              </a:rPr>
              <a:t>(Windows, Linux, macOS endpoints)</a:t>
            </a:r>
          </a:p>
          <a:p>
            <a:pPr marL="0" indent="0">
              <a:buNone/>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Shuffle SOAR Platform </a:t>
            </a:r>
            <a:r>
              <a:rPr lang="en-IN" sz="1800" dirty="0">
                <a:latin typeface="Times New Roman" panose="02020603050405020304" pitchFamily="18" charset="0"/>
                <a:cs typeface="Times New Roman" panose="02020603050405020304" pitchFamily="18" charset="0"/>
              </a:rPr>
              <a:t>(Docker-based deployment)</a:t>
            </a:r>
          </a:p>
        </p:txBody>
      </p:sp>
    </p:spTree>
    <p:extLst>
      <p:ext uri="{BB962C8B-B14F-4D97-AF65-F5344CB8AC3E}">
        <p14:creationId xmlns:p14="http://schemas.microsoft.com/office/powerpoint/2010/main" val="3986068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CE882-23DD-B8D2-F4C9-A5EC45578294}"/>
              </a:ext>
            </a:extLst>
          </p:cNvPr>
          <p:cNvSpPr>
            <a:spLocks noGrp="1"/>
          </p:cNvSpPr>
          <p:nvPr>
            <p:ph type="title"/>
          </p:nvPr>
        </p:nvSpPr>
        <p:spPr>
          <a:xfrm>
            <a:off x="1419496" y="608966"/>
            <a:ext cx="9239795" cy="958578"/>
          </a:xfrm>
        </p:spPr>
        <p:txBody>
          <a:bodyPr>
            <a:normAutofit/>
          </a:bodyPr>
          <a:lstStyle/>
          <a:p>
            <a:r>
              <a:rPr lang="en-IN" b="1" dirty="0">
                <a:latin typeface="Times New Roman" panose="02020603050405020304" pitchFamily="18" charset="0"/>
                <a:cs typeface="Times New Roman" panose="02020603050405020304" pitchFamily="18" charset="0"/>
              </a:rPr>
              <a:t>Hardware Requirements:</a:t>
            </a:r>
          </a:p>
        </p:txBody>
      </p:sp>
      <p:sp>
        <p:nvSpPr>
          <p:cNvPr id="3" name="Content Placeholder 2">
            <a:extLst>
              <a:ext uri="{FF2B5EF4-FFF2-40B4-BE49-F238E27FC236}">
                <a16:creationId xmlns:a16="http://schemas.microsoft.com/office/drawing/2014/main" id="{1C875ED4-2527-77F7-1ECD-BA9D7754B0A1}"/>
              </a:ext>
            </a:extLst>
          </p:cNvPr>
          <p:cNvSpPr>
            <a:spLocks noGrp="1"/>
          </p:cNvSpPr>
          <p:nvPr>
            <p:ph idx="1"/>
          </p:nvPr>
        </p:nvSpPr>
        <p:spPr>
          <a:xfrm>
            <a:off x="1419496" y="1825625"/>
            <a:ext cx="9934303" cy="4351338"/>
          </a:xfrm>
        </p:spPr>
        <p:txBody>
          <a:bodyPr>
            <a:normAutofit lnSpcReduction="10000"/>
          </a:bodyPr>
          <a:lstStyle/>
          <a:p>
            <a:pPr marL="0" indent="0">
              <a:buNone/>
            </a:pPr>
            <a:r>
              <a:rPr lang="en-IN" sz="2000" b="1" dirty="0" err="1">
                <a:latin typeface="Times New Roman" panose="02020603050405020304" pitchFamily="18" charset="0"/>
                <a:cs typeface="Times New Roman" panose="02020603050405020304" pitchFamily="18" charset="0"/>
              </a:rPr>
              <a:t>Wazuh</a:t>
            </a:r>
            <a:r>
              <a:rPr lang="en-IN" sz="2000" b="1" dirty="0">
                <a:latin typeface="Times New Roman" panose="02020603050405020304" pitchFamily="18" charset="0"/>
                <a:cs typeface="Times New Roman" panose="02020603050405020304" pitchFamily="18" charset="0"/>
              </a:rPr>
              <a:t> Manager Server</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CPU</a:t>
            </a:r>
            <a:r>
              <a:rPr lang="en-IN" sz="2000" dirty="0">
                <a:latin typeface="Times New Roman" panose="02020603050405020304" pitchFamily="18" charset="0"/>
                <a:cs typeface="Times New Roman" panose="02020603050405020304" pitchFamily="18" charset="0"/>
              </a:rPr>
              <a:t>: 4–8 cores (Intel Xeon or AMD EPYC recommended)</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16–32 GB (depending on log volume and agent count)</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SSD with 500 GB+ (expandable based on retention policy)</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Network</a:t>
            </a:r>
            <a:r>
              <a:rPr lang="en-IN" sz="2000" dirty="0">
                <a:latin typeface="Times New Roman" panose="02020603050405020304" pitchFamily="18" charset="0"/>
                <a:cs typeface="Times New Roman" panose="02020603050405020304" pitchFamily="18" charset="0"/>
              </a:rPr>
              <a:t>: Gigabit Ethernet for fast log ingestion</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Shuffle Server</a:t>
            </a:r>
          </a:p>
          <a:p>
            <a:r>
              <a:rPr lang="en-IN" sz="2000" b="1" dirty="0">
                <a:latin typeface="Times New Roman" panose="02020603050405020304" pitchFamily="18" charset="0"/>
                <a:cs typeface="Times New Roman" panose="02020603050405020304" pitchFamily="18" charset="0"/>
              </a:rPr>
              <a:t>CPU</a:t>
            </a:r>
            <a:r>
              <a:rPr lang="en-IN" sz="2000" dirty="0">
                <a:latin typeface="Times New Roman" panose="02020603050405020304" pitchFamily="18" charset="0"/>
                <a:cs typeface="Times New Roman" panose="02020603050405020304" pitchFamily="18" charset="0"/>
              </a:rPr>
              <a:t>: 4 cores</a:t>
            </a:r>
          </a:p>
          <a:p>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8–16 GB</a:t>
            </a:r>
          </a:p>
          <a:p>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100 GB SSD</a:t>
            </a:r>
          </a:p>
          <a:p>
            <a:r>
              <a:rPr lang="en-IN" sz="2000" b="1" dirty="0">
                <a:latin typeface="Times New Roman" panose="02020603050405020304" pitchFamily="18" charset="0"/>
                <a:cs typeface="Times New Roman" panose="02020603050405020304" pitchFamily="18" charset="0"/>
              </a:rPr>
              <a:t>Network</a:t>
            </a:r>
            <a:r>
              <a:rPr lang="en-IN" sz="2000" dirty="0">
                <a:latin typeface="Times New Roman" panose="02020603050405020304" pitchFamily="18" charset="0"/>
                <a:cs typeface="Times New Roman" panose="02020603050405020304" pitchFamily="18" charset="0"/>
              </a:rPr>
              <a:t>: Reliable internet for API integrations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626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9C3C2-9A6A-6D39-8D2C-82FFAC6FA3BB}"/>
              </a:ext>
            </a:extLst>
          </p:cNvPr>
          <p:cNvSpPr>
            <a:spLocks noGrp="1"/>
          </p:cNvSpPr>
          <p:nvPr>
            <p:ph type="title"/>
          </p:nvPr>
        </p:nvSpPr>
        <p:spPr>
          <a:xfrm>
            <a:off x="1288868" y="399959"/>
            <a:ext cx="9692641" cy="1325563"/>
          </a:xfrm>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D593716-B734-5D07-5773-4AAC06DB9075}"/>
              </a:ext>
            </a:extLst>
          </p:cNvPr>
          <p:cNvSpPr>
            <a:spLocks noGrp="1"/>
          </p:cNvSpPr>
          <p:nvPr>
            <p:ph idx="1"/>
          </p:nvPr>
        </p:nvSpPr>
        <p:spPr>
          <a:xfrm>
            <a:off x="1288868" y="1825625"/>
            <a:ext cx="9858103" cy="2519952"/>
          </a:xfrm>
        </p:spPr>
        <p:txBody>
          <a:bodyPr/>
          <a:lstStyle/>
          <a:p>
            <a:r>
              <a:rPr lang="en-US" sz="2000" dirty="0">
                <a:latin typeface="Times New Roman" panose="02020603050405020304" pitchFamily="18" charset="0"/>
                <a:cs typeface="Times New Roman" panose="02020603050405020304" pitchFamily="18" charset="0"/>
              </a:rPr>
              <a:t>The integration of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and Shuffle offers a powerful, scalable cybersecurity framework.</a:t>
            </a:r>
          </a:p>
          <a:p>
            <a:r>
              <a:rPr lang="en-US" sz="2000" dirty="0">
                <a:latin typeface="Times New Roman" panose="02020603050405020304" pitchFamily="18" charset="0"/>
                <a:cs typeface="Times New Roman" panose="02020603050405020304" pitchFamily="18" charset="0"/>
              </a:rPr>
              <a:t>Real-time monitoring and automated response reduce manual effort and improve SOC efficiency.</a:t>
            </a:r>
          </a:p>
          <a:p>
            <a:r>
              <a:rPr lang="en-US" sz="2000" dirty="0">
                <a:latin typeface="Times New Roman" panose="02020603050405020304" pitchFamily="18" charset="0"/>
                <a:cs typeface="Times New Roman" panose="02020603050405020304" pitchFamily="18" charset="0"/>
              </a:rPr>
              <a:t>This modular approach ensures adaptability, compliance and resilience against evolving threats.</a:t>
            </a:r>
          </a:p>
          <a:p>
            <a:endParaRPr lang="en-IN" dirty="0"/>
          </a:p>
        </p:txBody>
      </p:sp>
    </p:spTree>
    <p:extLst>
      <p:ext uri="{BB962C8B-B14F-4D97-AF65-F5344CB8AC3E}">
        <p14:creationId xmlns:p14="http://schemas.microsoft.com/office/powerpoint/2010/main" val="927772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F5725-842D-CDD7-DD05-36A2A9DAF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FE15B-6E3A-555A-FD9B-95F173A64562}"/>
              </a:ext>
            </a:extLst>
          </p:cNvPr>
          <p:cNvSpPr>
            <a:spLocks noGrp="1"/>
          </p:cNvSpPr>
          <p:nvPr>
            <p:ph type="title"/>
          </p:nvPr>
        </p:nvSpPr>
        <p:spPr>
          <a:xfrm>
            <a:off x="660399" y="318880"/>
            <a:ext cx="10515600" cy="379481"/>
          </a:xfrm>
        </p:spPr>
        <p:txBody>
          <a:bodyPr>
            <a:normAutofit fontScale="90000"/>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4" name="Content Placeholder 3">
            <a:extLst>
              <a:ext uri="{FF2B5EF4-FFF2-40B4-BE49-F238E27FC236}">
                <a16:creationId xmlns:a16="http://schemas.microsoft.com/office/drawing/2014/main" id="{9446B97F-51F6-A874-C577-80EFAE86AAEE}"/>
              </a:ext>
            </a:extLst>
          </p:cNvPr>
          <p:cNvSpPr>
            <a:spLocks noGrp="1"/>
          </p:cNvSpPr>
          <p:nvPr>
            <p:ph idx="1"/>
          </p:nvPr>
        </p:nvSpPr>
        <p:spPr>
          <a:xfrm>
            <a:off x="1170632" y="1253330"/>
            <a:ext cx="10411768" cy="5103927"/>
          </a:xfrm>
        </p:spPr>
        <p:txBody>
          <a:bodyPr>
            <a:normAutofit fontScale="70000" lnSpcReduction="20000"/>
          </a:bodyPr>
          <a:lstStyle/>
          <a:p>
            <a:pPr marL="514350" indent="-514350" defTabSz="457200" fontAlgn="base">
              <a:lnSpc>
                <a:spcPct val="100000"/>
              </a:lnSpc>
              <a:spcBef>
                <a:spcPct val="0"/>
              </a:spcBef>
              <a:spcAft>
                <a:spcPct val="0"/>
              </a:spcAft>
              <a:buFont typeface="+mj-lt"/>
              <a:buAutoNum type="arabicParenR"/>
              <a:defRPr/>
            </a:pPr>
            <a:r>
              <a:rPr lang="en-US" sz="2800" b="1" noProof="0" dirty="0">
                <a:solidFill>
                  <a:prstClr val="black"/>
                </a:solidFill>
                <a:latin typeface="Times New Roman" panose="02020603050405020304" pitchFamily="18" charset="0"/>
                <a:cs typeface="Times New Roman" panose="02020603050405020304" pitchFamily="18" charset="0"/>
              </a:rPr>
              <a:t>NIST Vulnerability Database:</a:t>
            </a:r>
            <a:r>
              <a:rPr lang="en-US" sz="2800" noProof="0" dirty="0">
                <a:solidFill>
                  <a:prstClr val="black"/>
                </a:solidFill>
                <a:latin typeface="Times New Roman" panose="02020603050405020304" pitchFamily="18" charset="0"/>
                <a:cs typeface="Times New Roman" panose="02020603050405020304" pitchFamily="18" charset="0"/>
              </a:rPr>
              <a:t> National Institute of Standards and Technology repository of known vulnerabilities. [NIST NVD](</a:t>
            </a:r>
            <a:r>
              <a:rPr lang="en-US" sz="2800" noProof="0" dirty="0">
                <a:solidFill>
                  <a:prstClr val="black"/>
                </a:solidFill>
                <a:latin typeface="Times New Roman" panose="02020603050405020304" pitchFamily="18" charset="0"/>
                <a:cs typeface="Times New Roman" panose="02020603050405020304" pitchFamily="18" charset="0"/>
                <a:hlinkClick r:id="rId3"/>
              </a:rPr>
              <a:t>https://nvd.nist.gov</a:t>
            </a:r>
            <a:r>
              <a:rPr lang="en-US" sz="2800" noProof="0" dirty="0">
                <a:solidFill>
                  <a:prstClr val="black"/>
                </a:solidFill>
                <a:latin typeface="Times New Roman" panose="02020603050405020304" pitchFamily="18" charset="0"/>
                <a:cs typeface="Times New Roman" panose="02020603050405020304" pitchFamily="18" charset="0"/>
              </a:rPr>
              <a:t>).</a:t>
            </a:r>
          </a:p>
          <a:p>
            <a:pPr marL="514350" indent="-514350" defTabSz="457200" fontAlgn="base">
              <a:lnSpc>
                <a:spcPct val="100000"/>
              </a:lnSpc>
              <a:spcBef>
                <a:spcPct val="0"/>
              </a:spcBef>
              <a:spcAft>
                <a:spcPct val="0"/>
              </a:spcAft>
              <a:buFont typeface="+mj-lt"/>
              <a:buAutoNum type="arabicParenR"/>
              <a:defRPr/>
            </a:pPr>
            <a:endParaRPr lang="en-US" sz="2800" noProof="0" dirty="0">
              <a:solidFill>
                <a:prstClr val="black"/>
              </a:solidFill>
              <a:latin typeface="Times New Roman" panose="02020603050405020304" pitchFamily="18" charset="0"/>
              <a:cs typeface="Times New Roman" panose="02020603050405020304" pitchFamily="18" charset="0"/>
            </a:endParaRPr>
          </a:p>
          <a:p>
            <a:pPr marL="514350" indent="-514350" defTabSz="457200" fontAlgn="base">
              <a:lnSpc>
                <a:spcPct val="100000"/>
              </a:lnSpc>
              <a:spcBef>
                <a:spcPct val="0"/>
              </a:spcBef>
              <a:spcAft>
                <a:spcPct val="0"/>
              </a:spcAft>
              <a:buFont typeface="+mj-lt"/>
              <a:buAutoNum type="arabicParenR"/>
              <a:defRPr/>
            </a:pPr>
            <a:r>
              <a:rPr lang="en-US" sz="2800" b="1" noProof="0" dirty="0">
                <a:solidFill>
                  <a:prstClr val="black"/>
                </a:solidFill>
                <a:latin typeface="Times New Roman" panose="02020603050405020304" pitchFamily="18" charset="0"/>
                <a:cs typeface="Times New Roman" panose="02020603050405020304" pitchFamily="18" charset="0"/>
              </a:rPr>
              <a:t>CVE Details</a:t>
            </a:r>
            <a:r>
              <a:rPr lang="en-US" sz="2800" noProof="0" dirty="0">
                <a:solidFill>
                  <a:prstClr val="black"/>
                </a:solidFill>
                <a:latin typeface="Times New Roman" panose="02020603050405020304" pitchFamily="18" charset="0"/>
                <a:cs typeface="Times New Roman" panose="02020603050405020304" pitchFamily="18" charset="0"/>
              </a:rPr>
              <a:t>: Database providing detailed information on known security vulnerabilities. [CVE Details](</a:t>
            </a:r>
            <a:r>
              <a:rPr lang="en-US" sz="2800" noProof="0" dirty="0">
                <a:solidFill>
                  <a:prstClr val="black"/>
                </a:solidFill>
                <a:latin typeface="Times New Roman" panose="02020603050405020304" pitchFamily="18" charset="0"/>
                <a:cs typeface="Times New Roman" panose="02020603050405020304" pitchFamily="18" charset="0"/>
                <a:hlinkClick r:id="rId4"/>
              </a:rPr>
              <a:t>https://www.cvedetails.com</a:t>
            </a:r>
            <a:r>
              <a:rPr lang="en-US" sz="2800" noProof="0" dirty="0">
                <a:solidFill>
                  <a:prstClr val="black"/>
                </a:solidFill>
                <a:latin typeface="Times New Roman" panose="02020603050405020304" pitchFamily="18" charset="0"/>
                <a:cs typeface="Times New Roman" panose="02020603050405020304" pitchFamily="18" charset="0"/>
              </a:rPr>
              <a:t>).</a:t>
            </a:r>
          </a:p>
          <a:p>
            <a:pPr marL="514350" indent="-514350" defTabSz="457200" fontAlgn="base">
              <a:lnSpc>
                <a:spcPct val="100000"/>
              </a:lnSpc>
              <a:spcBef>
                <a:spcPct val="0"/>
              </a:spcBef>
              <a:spcAft>
                <a:spcPct val="0"/>
              </a:spcAft>
              <a:buFont typeface="+mj-lt"/>
              <a:buAutoNum type="arabicParenR"/>
              <a:defRPr/>
            </a:pPr>
            <a:endParaRPr lang="en-US" sz="2800" noProof="0" dirty="0">
              <a:solidFill>
                <a:prstClr val="black"/>
              </a:solidFill>
              <a:latin typeface="Times New Roman" panose="02020603050405020304" pitchFamily="18" charset="0"/>
              <a:cs typeface="Times New Roman" panose="02020603050405020304" pitchFamily="18" charset="0"/>
            </a:endParaRPr>
          </a:p>
          <a:p>
            <a:pPr marL="514350" indent="-514350" defTabSz="457200" fontAlgn="base">
              <a:lnSpc>
                <a:spcPct val="100000"/>
              </a:lnSpc>
              <a:spcBef>
                <a:spcPct val="0"/>
              </a:spcBef>
              <a:spcAft>
                <a:spcPct val="0"/>
              </a:spcAft>
              <a:buFont typeface="+mj-lt"/>
              <a:buAutoNum type="arabicParenR"/>
              <a:defRPr/>
            </a:pPr>
            <a:r>
              <a:rPr lang="en-US" sz="2800" b="1" noProof="0" dirty="0">
                <a:solidFill>
                  <a:prstClr val="black"/>
                </a:solidFill>
                <a:latin typeface="Times New Roman" panose="02020603050405020304" pitchFamily="18" charset="0"/>
                <a:cs typeface="Times New Roman" panose="02020603050405020304" pitchFamily="18" charset="0"/>
              </a:rPr>
              <a:t>Security Headers: </a:t>
            </a:r>
            <a:r>
              <a:rPr lang="en-US" sz="2800" noProof="0" dirty="0">
                <a:solidFill>
                  <a:prstClr val="black"/>
                </a:solidFill>
                <a:latin typeface="Times New Roman" panose="02020603050405020304" pitchFamily="18" charset="0"/>
                <a:cs typeface="Times New Roman" panose="02020603050405020304" pitchFamily="18" charset="0"/>
              </a:rPr>
              <a:t>Analysis tool for HTTP security headers and best practices. [Security Headers](</a:t>
            </a:r>
            <a:r>
              <a:rPr lang="en-US" sz="2800" noProof="0" dirty="0">
                <a:solidFill>
                  <a:prstClr val="black"/>
                </a:solidFill>
                <a:latin typeface="Times New Roman" panose="02020603050405020304" pitchFamily="18" charset="0"/>
                <a:cs typeface="Times New Roman" panose="02020603050405020304" pitchFamily="18" charset="0"/>
                <a:hlinkClick r:id="rId5"/>
              </a:rPr>
              <a:t>https://securityheaders.com</a:t>
            </a:r>
            <a:r>
              <a:rPr lang="en-US" sz="2800" noProof="0" dirty="0">
                <a:solidFill>
                  <a:prstClr val="black"/>
                </a:solidFill>
                <a:latin typeface="Times New Roman" panose="02020603050405020304" pitchFamily="18" charset="0"/>
                <a:cs typeface="Times New Roman" panose="02020603050405020304" pitchFamily="18" charset="0"/>
              </a:rPr>
              <a:t>).</a:t>
            </a:r>
          </a:p>
          <a:p>
            <a:pPr marL="514350" indent="-514350" defTabSz="457200" fontAlgn="base">
              <a:lnSpc>
                <a:spcPct val="100000"/>
              </a:lnSpc>
              <a:spcBef>
                <a:spcPct val="0"/>
              </a:spcBef>
              <a:spcAft>
                <a:spcPct val="0"/>
              </a:spcAft>
              <a:buFont typeface="+mj-lt"/>
              <a:buAutoNum type="arabicParenR"/>
              <a:defRPr/>
            </a:pPr>
            <a:endParaRPr lang="en-US" sz="2800" noProof="0" dirty="0">
              <a:solidFill>
                <a:prstClr val="black"/>
              </a:solidFill>
              <a:latin typeface="Times New Roman" panose="02020603050405020304" pitchFamily="18" charset="0"/>
              <a:cs typeface="Times New Roman" panose="02020603050405020304" pitchFamily="18" charset="0"/>
            </a:endParaRPr>
          </a:p>
          <a:p>
            <a:pPr marL="514350" indent="-514350" defTabSz="457200" fontAlgn="base">
              <a:lnSpc>
                <a:spcPct val="100000"/>
              </a:lnSpc>
              <a:spcBef>
                <a:spcPct val="0"/>
              </a:spcBef>
              <a:spcAft>
                <a:spcPct val="0"/>
              </a:spcAft>
              <a:buFont typeface="+mj-lt"/>
              <a:buAutoNum type="arabicParenR"/>
              <a:defRPr/>
            </a:pPr>
            <a:r>
              <a:rPr lang="en-US" b="1" dirty="0">
                <a:solidFill>
                  <a:prstClr val="black"/>
                </a:solidFill>
                <a:latin typeface="Times New Roman" panose="02020603050405020304" pitchFamily="18" charset="0"/>
                <a:cs typeface="Times New Roman" panose="02020603050405020304" pitchFamily="18" charset="0"/>
              </a:rPr>
              <a:t>SOC Tools: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Security Operations Center using open-source tools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6"/>
              </a:rPr>
              <a:t>JETIR Research Journal</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514350" indent="-514350" defTabSz="457200" fontAlgn="base">
              <a:lnSpc>
                <a:spcPct val="100000"/>
              </a:lnSpc>
              <a:spcBef>
                <a:spcPct val="0"/>
              </a:spcBef>
              <a:spcAft>
                <a:spcPct val="0"/>
              </a:spcAft>
              <a:buFont typeface="+mj-lt"/>
              <a:buAutoNum type="arabicParenR"/>
              <a:defRPr/>
            </a:pPr>
            <a:r>
              <a:rPr lang="en-IN" b="1" dirty="0">
                <a:latin typeface="Times New Roman" panose="02020603050405020304" pitchFamily="18" charset="0"/>
                <a:cs typeface="Times New Roman" panose="02020603050405020304" pitchFamily="18" charset="0"/>
              </a:rPr>
              <a:t>Real-Time Threat Monitoring:</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Integrating </a:t>
            </a:r>
            <a:r>
              <a:rPr lang="en-US" dirty="0" err="1">
                <a:latin typeface="Times New Roman" panose="02020603050405020304" pitchFamily="18" charset="0"/>
                <a:cs typeface="Times New Roman" panose="02020603050405020304" pitchFamily="18" charset="0"/>
              </a:rPr>
              <a:t>Wazuh</a:t>
            </a:r>
            <a:r>
              <a:rPr lang="en-US" dirty="0">
                <a:latin typeface="Times New Roman" panose="02020603050405020304" pitchFamily="18" charset="0"/>
                <a:cs typeface="Times New Roman" panose="02020603050405020304" pitchFamily="18" charset="0"/>
              </a:rPr>
              <a:t> for Efficient Vulnerability Assessment in a SOC Environment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hlinkClick r:id="rId7"/>
              </a:rPr>
              <a:t>Integrating </a:t>
            </a:r>
            <a:r>
              <a:rPr lang="en-US" dirty="0" err="1">
                <a:latin typeface="Times New Roman" panose="02020603050405020304" pitchFamily="18" charset="0"/>
                <a:cs typeface="Times New Roman" panose="02020603050405020304" pitchFamily="18" charset="0"/>
                <a:hlinkClick r:id="rId7"/>
              </a:rPr>
              <a:t>Wazuh</a:t>
            </a:r>
            <a:r>
              <a:rPr lang="en-US" dirty="0">
                <a:latin typeface="Times New Roman" panose="02020603050405020304" pitchFamily="18" charset="0"/>
                <a:cs typeface="Times New Roman" panose="02020603050405020304" pitchFamily="18" charset="0"/>
                <a:hlinkClick r:id="rId7"/>
              </a:rPr>
              <a:t> for Efficient Real-Time Threat Monitoring and Vulnerability Assessment in a SOC Environment: Science &amp; Engineering Book Chapter | IGI Global Scientific Publishing</a:t>
            </a:r>
            <a:r>
              <a:rPr lang="en-US" dirty="0">
                <a:latin typeface="Times New Roman" panose="02020603050405020304" pitchFamily="18" charset="0"/>
                <a:cs typeface="Times New Roman" panose="02020603050405020304" pitchFamily="18" charset="0"/>
              </a:rPr>
              <a:t>)</a:t>
            </a:r>
          </a:p>
          <a:p>
            <a:pPr marL="514350" indent="-514350" defTabSz="457200" fontAlgn="base">
              <a:lnSpc>
                <a:spcPct val="100000"/>
              </a:lnSpc>
              <a:spcBef>
                <a:spcPct val="0"/>
              </a:spcBef>
              <a:spcAft>
                <a:spcPct val="0"/>
              </a:spcAft>
              <a:buFont typeface="+mj-lt"/>
              <a:buAutoNum type="arabicParenR"/>
              <a:defRPr/>
            </a:pPr>
            <a:endParaRPr lang="en-IN" dirty="0">
              <a:latin typeface="Times New Roman" panose="02020603050405020304" pitchFamily="18" charset="0"/>
              <a:cs typeface="Times New Roman" panose="02020603050405020304" pitchFamily="18" charset="0"/>
            </a:endParaRPr>
          </a:p>
          <a:p>
            <a:pPr marL="514350" indent="-514350" defTabSz="457200" fontAlgn="base">
              <a:lnSpc>
                <a:spcPct val="100000"/>
              </a:lnSpc>
              <a:spcBef>
                <a:spcPct val="0"/>
              </a:spcBef>
              <a:spcAft>
                <a:spcPct val="0"/>
              </a:spcAft>
              <a:buFont typeface="+mj-lt"/>
              <a:buAutoNum type="arabicParenR"/>
              <a:defRPr/>
            </a:pPr>
            <a:r>
              <a:rPr lang="en-US" b="1" dirty="0">
                <a:latin typeface="Times New Roman" panose="02020603050405020304" pitchFamily="18" charset="0"/>
                <a:cs typeface="Times New Roman" panose="02020603050405020304" pitchFamily="18" charset="0"/>
              </a:rPr>
              <a:t>S</a:t>
            </a:r>
            <a:r>
              <a:rPr lang="en-IN" b="1" dirty="0">
                <a:latin typeface="Times New Roman" panose="02020603050405020304" pitchFamily="18" charset="0"/>
                <a:cs typeface="Times New Roman" panose="02020603050405020304" pitchFamily="18" charset="0"/>
              </a:rPr>
              <a:t>IEM and Threat Intelligence: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Protecting Applications with </a:t>
            </a:r>
            <a:r>
              <a:rPr lang="en-US" dirty="0" err="1">
                <a:latin typeface="Times New Roman" panose="02020603050405020304" pitchFamily="18" charset="0"/>
                <a:cs typeface="Times New Roman" panose="02020603050405020304" pitchFamily="18" charset="0"/>
              </a:rPr>
              <a:t>Wazuh</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TheHive</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8"/>
              </a:rPr>
              <a:t>SIEM and Threat Intelligence: Protecting Applications with </a:t>
            </a:r>
            <a:r>
              <a:rPr lang="en-US" dirty="0" err="1">
                <a:latin typeface="Times New Roman" panose="02020603050405020304" pitchFamily="18" charset="0"/>
                <a:cs typeface="Times New Roman" panose="02020603050405020304" pitchFamily="18" charset="0"/>
                <a:hlinkClick r:id="rId8"/>
              </a:rPr>
              <a:t>Wazuh</a:t>
            </a:r>
            <a:r>
              <a:rPr lang="en-US" dirty="0">
                <a:latin typeface="Times New Roman" panose="02020603050405020304" pitchFamily="18" charset="0"/>
                <a:cs typeface="Times New Roman" panose="02020603050405020304" pitchFamily="18" charset="0"/>
                <a:hlinkClick r:id="rId8"/>
              </a:rPr>
              <a:t> and </a:t>
            </a:r>
            <a:r>
              <a:rPr lang="en-US" dirty="0" err="1">
                <a:latin typeface="Times New Roman" panose="02020603050405020304" pitchFamily="18" charset="0"/>
                <a:cs typeface="Times New Roman" panose="02020603050405020304" pitchFamily="18" charset="0"/>
                <a:hlinkClick r:id="rId8"/>
              </a:rPr>
              <a:t>TheHive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514350" indent="-514350" defTabSz="457200" fontAlgn="base">
              <a:lnSpc>
                <a:spcPct val="100000"/>
              </a:lnSpc>
              <a:spcBef>
                <a:spcPct val="0"/>
              </a:spcBef>
              <a:spcAft>
                <a:spcPct val="0"/>
              </a:spcAft>
              <a:buFont typeface="+mj-lt"/>
              <a:buAutoNum type="arabicParenR"/>
              <a:defRPr/>
            </a:pPr>
            <a:endParaRPr lang="en-US" sz="2800" noProof="0" dirty="0">
              <a:solidFill>
                <a:prstClr val="black"/>
              </a:solidFill>
              <a:latin typeface="Times New Roman" panose="02020603050405020304" pitchFamily="18" charset="0"/>
              <a:cs typeface="Times New Roman" panose="02020603050405020304" pitchFamily="18" charset="0"/>
            </a:endParaRPr>
          </a:p>
          <a:p>
            <a:pPr marL="514350" indent="-514350">
              <a:buFont typeface="+mj-lt"/>
              <a:buAutoNum type="arabicParen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761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C8B3C-9127-226D-4AB0-934C8BDC65C3}"/>
              </a:ext>
            </a:extLst>
          </p:cNvPr>
          <p:cNvSpPr txBox="1"/>
          <p:nvPr/>
        </p:nvSpPr>
        <p:spPr>
          <a:xfrm>
            <a:off x="1345138" y="2766274"/>
            <a:ext cx="9166107"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029BF38-7A96-E5C2-9E76-3E8A823BBDE7}"/>
              </a:ext>
            </a:extLst>
          </p:cNvPr>
          <p:cNvSpPr txBox="1"/>
          <p:nvPr/>
        </p:nvSpPr>
        <p:spPr>
          <a:xfrm>
            <a:off x="5179594" y="2514600"/>
            <a:ext cx="1828800" cy="1828800"/>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281110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1544</Words>
  <Application>Microsoft Office PowerPoint</Application>
  <PresentationFormat>Widescreen</PresentationFormat>
  <Paragraphs>134</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ABSTRACT</vt:lpstr>
      <vt:lpstr>OBJECTIVE</vt:lpstr>
      <vt:lpstr>INTRODUCTION </vt:lpstr>
      <vt:lpstr> EXISTING SYSTEM  </vt:lpstr>
      <vt:lpstr>PROPOSED SYSTEM </vt:lpstr>
      <vt:lpstr>Flow Chart:</vt:lpstr>
      <vt:lpstr>Problem Statement:</vt:lpstr>
      <vt:lpstr>Use Case Scenario:</vt:lpstr>
      <vt:lpstr>System Architecture:</vt:lpstr>
      <vt:lpstr>MODULE 1:  AGENT DEPLOYMENT</vt:lpstr>
      <vt:lpstr>PowerPoint Presentation</vt:lpstr>
      <vt:lpstr>MODULE 2:  WAZUH MANAGER CONFIGURATION</vt:lpstr>
      <vt:lpstr>PowerPoint Presentation</vt:lpstr>
      <vt:lpstr>MODULE 3:  SHUFFLE SOAR INTEGRATION</vt:lpstr>
      <vt:lpstr>PowerPoint Presentation</vt:lpstr>
      <vt:lpstr>MODULE 4:  CENTRALIZED DASHBOARD &amp; ALERTING </vt:lpstr>
      <vt:lpstr>PowerPoint Presentation</vt:lpstr>
      <vt:lpstr>MODULE 5:  INCIDENT RESPONSE WORKFLOWS</vt:lpstr>
      <vt:lpstr>PowerPoint Presentation</vt:lpstr>
      <vt:lpstr>MODULE 6:  COMPLIANCE &amp; SCALABILITY</vt:lpstr>
      <vt:lpstr>Performance Evaluation:</vt:lpstr>
      <vt:lpstr>Challenges &amp; Solutions:</vt:lpstr>
      <vt:lpstr>Future Enhancements:</vt:lpstr>
      <vt:lpstr>Components:</vt:lpstr>
      <vt:lpstr>Hardware Requirements: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IMAGE SEGMENTATION USING DEEP LEARNING ALGORITHM</dc:title>
  <dc:creator>Fantasy solution</dc:creator>
  <cp:lastModifiedBy>Gokul Kanagaraj</cp:lastModifiedBy>
  <cp:revision>52</cp:revision>
  <dcterms:created xsi:type="dcterms:W3CDTF">2022-05-28T14:05:06Z</dcterms:created>
  <dcterms:modified xsi:type="dcterms:W3CDTF">2025-12-26T05:28:45Z</dcterms:modified>
</cp:coreProperties>
</file>